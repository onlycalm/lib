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1689" r:id="rId4"/>
    <p:sldId id="1736" r:id="rId6"/>
    <p:sldId id="1738" r:id="rId7"/>
    <p:sldId id="1692" r:id="rId8"/>
    <p:sldId id="1746" r:id="rId9"/>
    <p:sldId id="1758" r:id="rId10"/>
    <p:sldId id="1749" r:id="rId11"/>
    <p:sldId id="1756" r:id="rId12"/>
    <p:sldId id="1753" r:id="rId13"/>
    <p:sldId id="1764" r:id="rId14"/>
    <p:sldId id="1767" r:id="rId15"/>
    <p:sldId id="1765" r:id="rId16"/>
    <p:sldId id="1769" r:id="rId17"/>
    <p:sldId id="1770" r:id="rId18"/>
    <p:sldId id="1771" r:id="rId19"/>
    <p:sldId id="1768" r:id="rId20"/>
    <p:sldId id="1775" r:id="rId21"/>
    <p:sldId id="1777" r:id="rId22"/>
    <p:sldId id="1774" r:id="rId23"/>
    <p:sldId id="1781" r:id="rId24"/>
    <p:sldId id="1782" r:id="rId25"/>
    <p:sldId id="1784" r:id="rId26"/>
    <p:sldId id="1785" r:id="rId27"/>
    <p:sldId id="328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xiaomei" initials="l" lastIdx="8" clrIdx="0"/>
  <p:cmAuthor id="1" name="Icey Zhang" initials="IZ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65A5A"/>
    <a:srgbClr val="E6E6E6"/>
    <a:srgbClr val="555A5A"/>
    <a:srgbClr val="D85252"/>
    <a:srgbClr val="08E662"/>
    <a:srgbClr val="CC00CC"/>
    <a:srgbClr val="FFCCCC"/>
    <a:srgbClr val="FF797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3" autoAdjust="0"/>
    <p:restoredTop sz="96379" autoAdjust="0"/>
  </p:normalViewPr>
  <p:slideViewPr>
    <p:cSldViewPr snapToGrid="0">
      <p:cViewPr varScale="1">
        <p:scale>
          <a:sx n="88" d="100"/>
          <a:sy n="88" d="100"/>
        </p:scale>
        <p:origin x="614" y="82"/>
      </p:cViewPr>
      <p:guideLst>
        <p:guide orient="horz" pos="2465"/>
        <p:guide pos="370"/>
        <p:guide pos="4566"/>
        <p:guide orient="horz" pos="2568"/>
        <p:guide pos="3046"/>
        <p:guide orient="horz" pos="31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6F882-F3F6-43D7-8DA5-CF86B46F50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BB047-0D03-4664-AB83-ED193B7B0F5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7AA11A-B587-5049-9642-DDD29A6452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749AB3-2B65-2C41-BF27-A2847558BD59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1985"/>
            <a:ext cx="12192000" cy="506015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238660" y="6420326"/>
            <a:ext cx="442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RoboSense Confidential Information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9427865" y="6420326"/>
            <a:ext cx="2630785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Provided Under NDA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60" y="0"/>
            <a:ext cx="922789" cy="9227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5676B-ABAE-47EE-9973-0B20975388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BF00F-6FEC-44CB-8BF5-0535BE2A5F5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162" y="-114300"/>
            <a:ext cx="12192000" cy="6858000"/>
          </a:xfrm>
          <a:prstGeom prst="rect">
            <a:avLst/>
          </a:prstGeom>
        </p:spPr>
      </p:pic>
      <p:sp>
        <p:nvSpPr>
          <p:cNvPr id="8" name="TextBox 6"/>
          <p:cNvSpPr txBox="1"/>
          <p:nvPr/>
        </p:nvSpPr>
        <p:spPr>
          <a:xfrm>
            <a:off x="905943" y="2278148"/>
            <a:ext cx="10065790" cy="768350"/>
          </a:xfrm>
          <a:prstGeom prst="rect">
            <a:avLst/>
          </a:prstGeom>
          <a:solidFill>
            <a:srgbClr val="565A5A"/>
          </a:solidFill>
        </p:spPr>
        <p:txBody>
          <a:bodyPr wrap="square" rtlCol="0">
            <a:spAutoFit/>
          </a:bodyPr>
          <a:lstStyle/>
          <a:p>
            <a:pPr algn="ctr"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M1   </a:t>
            </a:r>
            <a:r>
              <a:rPr lang="zh-CN" altLang="en-US" sz="4400" b="1" dirty="0" smtClean="0">
                <a:solidFill>
                  <a:schemeClr val="bg1"/>
                </a:solidFill>
                <a:latin typeface="微软雅黑" charset="0"/>
                <a:ea typeface="微软雅黑" charset="0"/>
              </a:rPr>
              <a:t>N061600014</a:t>
            </a:r>
            <a:r>
              <a:rPr lang="zh-CN" altLang="en-US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升级失效分析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 rot="10800000">
            <a:off x="406826" y="1009044"/>
            <a:ext cx="1659890" cy="500888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9600" b="1" dirty="0">
                <a:solidFill>
                  <a:schemeClr val="bg1">
                    <a:lumMod val="75000"/>
                  </a:schemeClr>
                </a:solidFill>
                <a:latin typeface="PingFang SC Semibold" charset="-122"/>
                <a:ea typeface="PingFang SC Semibold" charset="-122"/>
                <a:cs typeface="PingFang SC Semibold" charset="-122"/>
              </a:rPr>
              <a:t>Contents</a:t>
            </a:r>
            <a:endParaRPr kumimoji="1" lang="zh-CN" altLang="en-US" sz="9600" b="1" dirty="0">
              <a:solidFill>
                <a:schemeClr val="bg1">
                  <a:lumMod val="75000"/>
                </a:schemeClr>
              </a:solidFill>
              <a:latin typeface="PingFang SC Semibold" charset="-122"/>
              <a:ea typeface="PingFang SC Semibold" charset="-122"/>
              <a:cs typeface="PingFang SC Semibold" charset="-122"/>
            </a:endParaRPr>
          </a:p>
        </p:txBody>
      </p:sp>
      <p:cxnSp>
        <p:nvCxnSpPr>
          <p:cNvPr id="22" name="直线连接符 21"/>
          <p:cNvCxnSpPr/>
          <p:nvPr/>
        </p:nvCxnSpPr>
        <p:spPr>
          <a:xfrm>
            <a:off x="2004042" y="400920"/>
            <a:ext cx="40943" cy="5786651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2965621" y="1362750"/>
            <a:ext cx="2985521" cy="3893258"/>
            <a:chOff x="2965621" y="1362750"/>
            <a:chExt cx="2985521" cy="3893258"/>
          </a:xfrm>
        </p:grpSpPr>
        <p:sp>
          <p:nvSpPr>
            <p:cNvPr id="12" name="矩形 11"/>
            <p:cNvSpPr/>
            <p:nvPr/>
          </p:nvSpPr>
          <p:spPr>
            <a:xfrm>
              <a:off x="2965621" y="1444443"/>
              <a:ext cx="197708" cy="205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294646" y="1362750"/>
              <a:ext cx="1487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D1 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团队组建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287433" y="1853319"/>
              <a:ext cx="15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D2 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问题描述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294646" y="2366309"/>
              <a:ext cx="15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D3 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临时措施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294646" y="2887444"/>
              <a:ext cx="15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D4 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原因分析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294646" y="3397753"/>
              <a:ext cx="2656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D5 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和验证永久措施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294646" y="3894798"/>
              <a:ext cx="2656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D6 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实施和确认永久措施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294646" y="4400700"/>
              <a:ext cx="15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D7 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预防措施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3280220" y="4886676"/>
              <a:ext cx="15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D8 </a:t>
              </a:r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团队庆祝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2965621" y="1934595"/>
              <a:ext cx="197708" cy="205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2965621" y="2443576"/>
              <a:ext cx="197708" cy="205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2965621" y="2968822"/>
              <a:ext cx="197708" cy="205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2965621" y="3488299"/>
              <a:ext cx="197708" cy="205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2965621" y="3987036"/>
              <a:ext cx="197708" cy="205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2965621" y="4462718"/>
              <a:ext cx="197708" cy="205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2965621" y="4968702"/>
              <a:ext cx="197708" cy="2059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D1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、团队组建</a:t>
            </a:r>
            <a:endParaRPr lang="zh-CN" altLang="en-US" sz="24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98373" y="1642560"/>
          <a:ext cx="9419244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60"/>
                <a:gridCol w="2261062"/>
                <a:gridCol w="2192559"/>
                <a:gridCol w="3177463"/>
              </a:tblGrid>
              <a:tr h="2757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职位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职责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2757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主导人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Bryce</a:t>
                      </a:r>
                      <a:r>
                        <a:rPr lang="en-US" altLang="zh-CN" sz="14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WANG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项目质量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分析协调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75787">
                <a:tc rowSpan="5">
                  <a:txBody>
                    <a:bodyPr/>
                    <a:lstStyle/>
                    <a:p>
                      <a:pPr algn="ctr"/>
                      <a:endParaRPr lang="en-US" altLang="zh-CN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en-US" altLang="zh-CN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en-US" altLang="zh-CN" sz="1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成员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Patrick Zhang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项目经理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项目协调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7578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Leo Hu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系统工程师</a:t>
                      </a:r>
                      <a:endParaRPr lang="zh-CN" altLang="en-US" sz="1400" kern="120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75787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Kevin</a:t>
                      </a:r>
                      <a:r>
                        <a:rPr lang="en-US" altLang="zh-CN" sz="14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W</a:t>
                      </a:r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ang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技术支持经理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75787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YingYing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产品经理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7578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Mike</a:t>
                      </a:r>
                      <a:r>
                        <a:rPr lang="en-US" altLang="zh-CN" sz="1400" kern="1200" baseline="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400" kern="1200" baseline="0" dirty="0" err="1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zhu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软件负责人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D2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、问题描述</a:t>
            </a:r>
            <a:endParaRPr lang="zh-CN" altLang="en-US" sz="24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406235" y="952427"/>
          <a:ext cx="10131010" cy="3020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672"/>
                <a:gridCol w="8744338"/>
              </a:tblGrid>
              <a:tr h="3775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75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Who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A512S00791N061600014AE00121261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75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When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2022/07/28 21:11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75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Where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镇江产线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75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What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左激光雷达</a:t>
                      </a: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M1</a:t>
                      </a: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S007.003</a:t>
                      </a: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往</a:t>
                      </a: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007.006</a:t>
                      </a: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版本升级失败，激光雷达点云正常，灯也在闪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75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Why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完整性校验条件不满足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75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How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雷达装车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75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How much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aseline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6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PCS       </a:t>
                      </a:r>
                      <a:endParaRPr lang="en-US" altLang="zh-CN" sz="16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320800" y="4656383"/>
            <a:ext cx="15982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事件时间轴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10447" y="5945149"/>
            <a:ext cx="1144514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2022/</a:t>
            </a:r>
            <a:r>
              <a:rPr lang="en-US" altLang="zh-CN" sz="1200" dirty="0" smtClean="0">
                <a:latin typeface="微软雅黑" charset="0"/>
                <a:ea typeface="微软雅黑" charset="0"/>
              </a:rPr>
              <a:t>6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200" dirty="0" smtClean="0">
                <a:latin typeface="微软雅黑" charset="0"/>
                <a:ea typeface="微软雅黑" charset="0"/>
              </a:rPr>
              <a:t>16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1406235" y="5868786"/>
            <a:ext cx="9699567" cy="249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等腰三角形 12"/>
          <p:cNvSpPr/>
          <p:nvPr/>
        </p:nvSpPr>
        <p:spPr>
          <a:xfrm rot="10800000">
            <a:off x="1978828" y="5607580"/>
            <a:ext cx="303876" cy="2457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713503" y="5120203"/>
            <a:ext cx="9417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生产日期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713531" y="5945149"/>
            <a:ext cx="11445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2022/7/28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等腰三角形 18"/>
          <p:cNvSpPr/>
          <p:nvPr/>
        </p:nvSpPr>
        <p:spPr>
          <a:xfrm rot="10800000">
            <a:off x="4061042" y="5607580"/>
            <a:ext cx="303876" cy="2457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842449" y="5945149"/>
            <a:ext cx="11445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2022/7/29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等腰三角形 21"/>
          <p:cNvSpPr/>
          <p:nvPr/>
        </p:nvSpPr>
        <p:spPr>
          <a:xfrm rot="10800000">
            <a:off x="7163582" y="5607580"/>
            <a:ext cx="303876" cy="2457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6842449" y="5079400"/>
            <a:ext cx="11906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问题确认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769583" y="5120202"/>
            <a:ext cx="11906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客户反馈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D3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、临时措施</a:t>
            </a:r>
            <a:endParaRPr lang="zh-CN" altLang="en-US" sz="24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153316" y="1879798"/>
          <a:ext cx="9810692" cy="83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042"/>
                <a:gridCol w="3200050"/>
                <a:gridCol w="1248507"/>
                <a:gridCol w="1314801"/>
                <a:gridCol w="1413163"/>
                <a:gridCol w="891729"/>
                <a:gridCol w="1075400"/>
              </a:tblGrid>
              <a:tr h="26259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临时措施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责任人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计划完成时间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实际完成时间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附件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306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拆件返厂进行分析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Kevin WANG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2022/7/29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2022/8/1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NA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Done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320800" y="847754"/>
            <a:ext cx="39809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HW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采集数据分析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99215" y="1187102"/>
            <a:ext cx="10291065" cy="157141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1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、编程步骤0x31 01 0x0202完整性校验，返回负响应0x22条件不满足</a:t>
            </a: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indent="0"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2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、校验内容：</a:t>
            </a: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               -对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34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，36服务数据包进行CRC32校验，如果成功则CRC校验成功</a:t>
            </a: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               -对3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4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，3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6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服务数据包的hash值进行RSA3072解密操作，如果解密后的签名文件和下发的签名文件一</a:t>
            </a: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                 致，则RSA3072校验成功</a:t>
            </a: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               -如果CRC校验和RSA3072都成功则31(31010202+CRC)服务返回正响应，反之则为负响应 </a:t>
            </a: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102" y="2809760"/>
            <a:ext cx="6781001" cy="3407581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320800" y="847754"/>
            <a:ext cx="39809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问题确认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00974" y="1186308"/>
            <a:ext cx="9991808" cy="927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、雷达外观确认：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雷达外观完好，无磕碰、窗口片无刮划痕迹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1" t="12067" r="4929" b="5505"/>
          <a:stretch>
            <a:fillRect/>
          </a:stretch>
        </p:blipFill>
        <p:spPr>
          <a:xfrm rot="16200000">
            <a:off x="990451" y="1840933"/>
            <a:ext cx="2520000" cy="307525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370" y="1930670"/>
            <a:ext cx="2069658" cy="252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905" y="1930670"/>
            <a:ext cx="2137736" cy="252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879086" y="2336975"/>
            <a:ext cx="2520000" cy="1707391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320800" y="847754"/>
            <a:ext cx="39809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问题确认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00974" y="1186308"/>
            <a:ext cx="9991808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、使用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12monitor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确认雷达信息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读取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lidar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S007.003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lidar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无故障，诊断显示无异常。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upload_2994977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2095500"/>
            <a:ext cx="11239500" cy="809625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320800" y="847754"/>
            <a:ext cx="39809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问题确认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00974" y="1186308"/>
            <a:ext cx="9991808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、生产信息确认， 未发现异常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473358" y="2011341"/>
          <a:ext cx="2514600" cy="3524250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</a:tblGrid>
              <a:tr h="234950"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charset="0"/>
                        </a:rPr>
                        <a:t>评估结果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charset="0"/>
                        </a:rPr>
                        <a:t>点云输出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0"/>
                        </a:rPr>
                        <a:t>合格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charset="0"/>
                        </a:rPr>
                        <a:t>测距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0"/>
                        </a:rPr>
                        <a:t>合格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charset="0"/>
                        </a:rPr>
                        <a:t>反射强度精度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0"/>
                        </a:rPr>
                        <a:t>合格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charset="0"/>
                        </a:rPr>
                        <a:t>通道拼接精度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0"/>
                        </a:rPr>
                        <a:t>合格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charset="0"/>
                        </a:rPr>
                        <a:t>盲区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0"/>
                        </a:rPr>
                        <a:t>合格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charset="0"/>
                        </a:rPr>
                        <a:t>水平</a:t>
                      </a: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charset="0"/>
                          <a:cs typeface="Calibri" charset="0"/>
                        </a:rPr>
                        <a:t>FOV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0"/>
                        </a:rPr>
                        <a:t>合格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charset="0"/>
                        </a:rPr>
                        <a:t>垂直</a:t>
                      </a: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charset="0"/>
                          <a:cs typeface="Calibri" charset="0"/>
                        </a:rPr>
                        <a:t>FOV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0"/>
                        </a:rPr>
                        <a:t>合格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charset="0"/>
                        </a:rPr>
                        <a:t>帧率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0"/>
                        </a:rPr>
                        <a:t>合格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charset="0"/>
                        </a:rPr>
                        <a:t>温度输出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0"/>
                        </a:rPr>
                        <a:t>合格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charset="0"/>
                        </a:rPr>
                        <a:t>网络通信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0"/>
                        </a:rPr>
                        <a:t>合格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charset="0"/>
                        </a:rPr>
                        <a:t>高反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0"/>
                        </a:rPr>
                        <a:t>合格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charset="0"/>
                        </a:rPr>
                        <a:t>测距</a:t>
                      </a: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charset="0"/>
                          <a:cs typeface="Calibri" charset="0"/>
                        </a:rPr>
                        <a:t>D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0"/>
                        </a:rPr>
                        <a:t>合格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charset="0"/>
                        </a:rPr>
                        <a:t>近低反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0"/>
                        </a:rPr>
                        <a:t>合格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Calibri" charset="0"/>
                        </a:rPr>
                        <a:t>远低反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0"/>
                        </a:rPr>
                        <a:t>合格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326232" y="848789"/>
            <a:ext cx="5632066" cy="83110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故障复现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b="1" dirty="0" smtClean="0">
                <a:latin typeface="微软雅黑" charset="0"/>
                <a:ea typeface="微软雅黑" charset="0"/>
              </a:rPr>
              <a:t>    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 -使用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PC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上位机007.003-&gt;007.00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3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升级成功，未复现</a:t>
            </a: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5" name="图片 4" descr="upload_6970455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855" y="1883250"/>
            <a:ext cx="8629351" cy="4217419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326232" y="848789"/>
            <a:ext cx="5472918" cy="83110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故障复现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b="1" dirty="0" smtClean="0">
                <a:latin typeface="微软雅黑" charset="0"/>
                <a:ea typeface="微软雅黑" charset="0"/>
              </a:rPr>
              <a:t>    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 -使用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PC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上位机007.003-&gt;007.00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6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升级成功，未复现</a:t>
            </a: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3" name="图片 2" descr="upload_3236513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7697" y="1812517"/>
            <a:ext cx="8293372" cy="4314676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326232" y="848789"/>
            <a:ext cx="5472918" cy="83110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故障复现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b="1" dirty="0" smtClean="0">
                <a:latin typeface="微软雅黑" charset="0"/>
                <a:ea typeface="微软雅黑" charset="0"/>
              </a:rPr>
              <a:t>    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 -使用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PC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上位机007.00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6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-&gt;007.00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3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升级成功，未复现</a:t>
            </a: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5" name="图片 4" descr="upload_2529503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8775" y="1819275"/>
            <a:ext cx="8648700" cy="4314825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320158" y="841163"/>
            <a:ext cx="9685055" cy="35282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charset="0"/>
                <a:ea typeface="微软雅黑" charset="0"/>
              </a:rPr>
              <a:t>下步计划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>
                <a:latin typeface="微软雅黑" charset="0"/>
                <a:ea typeface="微软雅黑" charset="0"/>
              </a:rPr>
              <a:t> 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1.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升级成功</a:t>
            </a:r>
            <a:r>
              <a:rPr lang="zh-CN" altLang="zh-CN" sz="1600" dirty="0">
                <a:solidFill>
                  <a:srgbClr val="141422"/>
                </a:solidFill>
                <a:ea typeface="system-ui" charset="0"/>
              </a:rPr>
              <a:t>下发的数据文件</a:t>
            </a:r>
            <a:r>
              <a:rPr lang="zh-CN" altLang="en-US" sz="1600" dirty="0">
                <a:solidFill>
                  <a:srgbClr val="141422"/>
                </a:solidFill>
                <a:ea typeface="system-ui" charset="0"/>
              </a:rPr>
              <a:t>和升级失败下发的数据文件每字节核对</a:t>
            </a:r>
            <a:r>
              <a:rPr lang="zh-CN" altLang="zh-CN" sz="1600" dirty="0">
                <a:solidFill>
                  <a:srgbClr val="141422"/>
                </a:solidFill>
                <a:ea typeface="system-ui" charset="0"/>
              </a:rPr>
              <a:t>，检查是否有篡改</a:t>
            </a:r>
            <a:r>
              <a:rPr lang="zh-CN" altLang="en-US" sz="1600" dirty="0">
                <a:solidFill>
                  <a:srgbClr val="141422"/>
                </a:solidFill>
                <a:ea typeface="system-ui" charset="0"/>
              </a:rPr>
              <a:t>：           </a:t>
            </a:r>
            <a:endParaRPr lang="zh-CN" altLang="en-US" sz="1600" dirty="0">
              <a:solidFill>
                <a:srgbClr val="141422"/>
              </a:solidFill>
              <a:ea typeface="system-ui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41422"/>
                </a:solidFill>
                <a:ea typeface="system-ui" charset="0"/>
              </a:rPr>
              <a:t>           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--- </a:t>
            </a:r>
            <a:r>
              <a:rPr lang="en-US" altLang="zh-CN" sz="1600" dirty="0">
                <a:solidFill>
                  <a:srgbClr val="141422"/>
                </a:solidFill>
                <a:ea typeface="system-ui" charset="0"/>
              </a:rPr>
              <a:t>HW</a:t>
            </a:r>
            <a:r>
              <a:rPr lang="zh-CN" altLang="en-US" sz="1600" dirty="0">
                <a:solidFill>
                  <a:srgbClr val="141422"/>
                </a:solidFill>
                <a:ea typeface="system-ui" charset="0"/>
              </a:rPr>
              <a:t>团队 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8/3</a:t>
            </a:r>
            <a:endParaRPr lang="en-US" altLang="zh-CN" sz="1600" dirty="0">
              <a:latin typeface="微软雅黑" charset="0"/>
              <a:ea typeface="微软雅黑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charset="0"/>
                <a:ea typeface="微软雅黑" charset="0"/>
              </a:rPr>
              <a:t>    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 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对比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升级成功数据和升级失败数据一致</a:t>
            </a:r>
            <a:endParaRPr lang="en-US" altLang="zh-CN" sz="1600" dirty="0">
              <a:latin typeface="微软雅黑" charset="0"/>
              <a:ea typeface="微软雅黑" charset="0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1600" dirty="0">
                <a:latin typeface="微软雅黑" charset="0"/>
                <a:ea typeface="微软雅黑" charset="0"/>
              </a:rPr>
              <a:t> 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2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.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 针对客退件（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N061600014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）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007.003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-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&gt;007.006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进行一晚压测，确认是否能复现故障</a:t>
            </a:r>
            <a:endParaRPr lang="en-US" altLang="zh-CN" sz="1600" dirty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1600" dirty="0">
                <a:latin typeface="微软雅黑" charset="0"/>
                <a:ea typeface="微软雅黑" charset="0"/>
              </a:rPr>
              <a:t>         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---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Leo HU 8/4</a:t>
            </a:r>
            <a:endParaRPr lang="en-US" altLang="zh-CN" sz="1600" dirty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1600" dirty="0">
                <a:latin typeface="微软雅黑" charset="0"/>
                <a:ea typeface="微软雅黑" charset="0"/>
              </a:rPr>
              <a:t>         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连续压测两晚，周五晚上到周一早上无复现</a:t>
            </a:r>
            <a:endParaRPr lang="en-US" altLang="zh-CN" sz="1600" dirty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1600" dirty="0">
                <a:latin typeface="微软雅黑" charset="0"/>
                <a:ea typeface="微软雅黑" charset="0"/>
              </a:rPr>
              <a:t> 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3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. 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与华为沟通样机返回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HW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继续复现</a:t>
            </a: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326232" y="848788"/>
            <a:ext cx="9219848" cy="172023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HW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故障复现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b="1" dirty="0" smtClean="0">
                <a:latin typeface="微软雅黑" charset="0"/>
                <a:ea typeface="微软雅黑" charset="0"/>
              </a:rPr>
              <a:t>    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 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-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问题样件装车</a:t>
            </a:r>
            <a:r>
              <a:rPr lang="zh-CN" altLang="zh-CN" sz="1600" dirty="0" smtClean="0">
                <a:latin typeface="微软雅黑" charset="0"/>
                <a:ea typeface="微软雅黑" charset="0"/>
              </a:rPr>
              <a:t>到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非产线车上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N61-08-EP3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上做软件版本升级，还是存在概率性出现失败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      </a:t>
            </a:r>
            <a:endParaRPr lang="zh-CN" altLang="en-US" sz="1600" dirty="0">
              <a:latin typeface="微软雅黑" charset="0"/>
              <a:ea typeface="微软雅黑" charset="0"/>
            </a:endParaRPr>
          </a:p>
          <a:p>
            <a:r>
              <a:rPr lang="en-US" altLang="zh-CN" sz="1600" dirty="0">
                <a:latin typeface="微软雅黑" charset="0"/>
                <a:ea typeface="微软雅黑" charset="0"/>
              </a:rPr>
              <a:t>        1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）失败大致统计次数如下，小样本下大约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20%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概率会失败：</a:t>
            </a:r>
            <a:endParaRPr lang="zh-CN" altLang="en-US" sz="1600" dirty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en-US" altLang="zh-CN" dirty="0" smtClean="0"/>
          </a:p>
          <a:p>
            <a:pPr indent="0">
              <a:lnSpc>
                <a:spcPct val="150000"/>
              </a:lnSpc>
              <a:buNone/>
            </a:pPr>
            <a:endParaRPr lang="en-US" altLang="zh-CN" dirty="0" smtClean="0"/>
          </a:p>
          <a:p>
            <a:pPr indent="0">
              <a:lnSpc>
                <a:spcPct val="150000"/>
              </a:lnSpc>
              <a:buNone/>
            </a:pPr>
            <a:endParaRPr lang="en-US" altLang="zh-CN" sz="1600" dirty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en-US" altLang="zh-CN" sz="1600" dirty="0" smtClean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en-US" altLang="zh-CN" sz="1600" dirty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en-US" altLang="zh-CN" sz="1600" dirty="0" smtClean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36914" y="24558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812646" y="2063931"/>
          <a:ext cx="8247019" cy="1933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2580"/>
                <a:gridCol w="1918121"/>
                <a:gridCol w="3375069"/>
                <a:gridCol w="1391249"/>
              </a:tblGrid>
              <a:tr h="38297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kern="12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原版本</a:t>
                      </a:r>
                      <a:endParaRPr lang="zh-CN" sz="1600" kern="12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20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目标版本</a:t>
                      </a:r>
                      <a:endParaRPr lang="zh-CN" sz="1600" kern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kern="12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成功次数</a:t>
                      </a:r>
                      <a:endParaRPr lang="zh-CN" sz="1600" kern="12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2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失败次数</a:t>
                      </a:r>
                      <a:endParaRPr lang="zh-CN" sz="1600" kern="12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40141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S007.003</a:t>
                      </a:r>
                      <a:endParaRPr lang="zh-CN" sz="1600" kern="12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S007.006</a:t>
                      </a:r>
                      <a:endParaRPr lang="zh-CN" sz="1600" kern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10</a:t>
                      </a:r>
                      <a:endParaRPr lang="zh-CN" sz="1600" kern="12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3</a:t>
                      </a:r>
                      <a:endParaRPr lang="zh-CN" sz="1600" kern="12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38297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S007.006</a:t>
                      </a:r>
                      <a:endParaRPr lang="zh-CN" sz="1600" kern="12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S007.003</a:t>
                      </a:r>
                      <a:endParaRPr lang="zh-CN" sz="1600" kern="12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6</a:t>
                      </a:r>
                      <a:endParaRPr lang="zh-CN" sz="1600" kern="12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1</a:t>
                      </a:r>
                      <a:endParaRPr lang="zh-CN" sz="1600" kern="12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38297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S007.006</a:t>
                      </a:r>
                      <a:endParaRPr lang="zh-CN" sz="1600" kern="12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S007.006</a:t>
                      </a:r>
                      <a:endParaRPr lang="zh-CN" sz="1600" kern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1</a:t>
                      </a:r>
                      <a:endParaRPr lang="zh-CN" sz="1600" kern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1</a:t>
                      </a:r>
                      <a:endParaRPr lang="zh-CN" sz="1600" kern="12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382972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S007.003</a:t>
                      </a:r>
                      <a:endParaRPr lang="zh-CN" sz="1600" kern="120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S007.003</a:t>
                      </a:r>
                      <a:endParaRPr lang="zh-CN" sz="1600" kern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2</a:t>
                      </a:r>
                      <a:endParaRPr lang="zh-CN" sz="1600" kern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1</a:t>
                      </a:r>
                      <a:endParaRPr lang="zh-CN" sz="1600" kern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767478" y="4066899"/>
            <a:ext cx="913275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微软雅黑" charset="0"/>
                <a:ea typeface="微软雅黑" charset="0"/>
              </a:rPr>
              <a:t>2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）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其中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S007.003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升级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S007.006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成功和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S007.003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升级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S007.006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失败中间只间隔一次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S007.006</a:t>
            </a:r>
            <a:endParaRPr lang="en-US" altLang="zh-CN" sz="1600" dirty="0">
              <a:latin typeface="微软雅黑" charset="0"/>
              <a:ea typeface="微软雅黑" charset="0"/>
            </a:endParaRPr>
          </a:p>
          <a:p>
            <a:r>
              <a:rPr lang="en-US" altLang="zh-CN" sz="1600" dirty="0">
                <a:latin typeface="微软雅黑" charset="0"/>
                <a:ea typeface="微软雅黑" charset="0"/>
              </a:rPr>
              <a:t>     </a:t>
            </a:r>
            <a:r>
              <a:rPr lang="zh-CN" altLang="zh-CN" sz="1600" dirty="0" smtClean="0">
                <a:latin typeface="微软雅黑" charset="0"/>
                <a:ea typeface="微软雅黑" charset="0"/>
              </a:rPr>
              <a:t>升级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S007.003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成功，这次失败看日志还是负响应，报文看是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CRC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失败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; S007.006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升级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S007.006</a:t>
            </a:r>
            <a:endParaRPr lang="en-US" altLang="zh-CN" sz="1600" dirty="0">
              <a:latin typeface="微软雅黑" charset="0"/>
              <a:ea typeface="微软雅黑" charset="0"/>
            </a:endParaRPr>
          </a:p>
          <a:p>
            <a:r>
              <a:rPr lang="en-US" altLang="zh-CN" sz="1600" dirty="0">
                <a:latin typeface="微软雅黑" charset="0"/>
                <a:ea typeface="微软雅黑" charset="0"/>
              </a:rPr>
              <a:t>     </a:t>
            </a:r>
            <a:r>
              <a:rPr lang="zh-CN" altLang="zh-CN" sz="1600" dirty="0" smtClean="0">
                <a:latin typeface="微软雅黑" charset="0"/>
                <a:ea typeface="微软雅黑" charset="0"/>
              </a:rPr>
              <a:t>成功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以后，下一次升级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S007.003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就失败</a:t>
            </a:r>
            <a:endParaRPr lang="zh-CN" altLang="zh-CN" sz="1600" dirty="0">
              <a:latin typeface="微软雅黑" charset="0"/>
              <a:ea typeface="微软雅黑" charset="0"/>
            </a:endParaRPr>
          </a:p>
          <a:p>
            <a:r>
              <a:rPr lang="en-US" altLang="zh-CN" sz="1600" dirty="0">
                <a:latin typeface="微软雅黑" charset="0"/>
                <a:ea typeface="微软雅黑" charset="0"/>
              </a:rPr>
              <a:t>3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）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升级失败存在多次连续失败，出现过连续三次失败；也存在上一次失败下次升级成功，</a:t>
            </a:r>
            <a:endParaRPr lang="en-US" altLang="zh-CN" sz="1600" dirty="0">
              <a:latin typeface="微软雅黑" charset="0"/>
              <a:ea typeface="微软雅黑" charset="0"/>
            </a:endParaRPr>
          </a:p>
          <a:p>
            <a:r>
              <a:rPr lang="en-US" altLang="zh-CN" sz="1600" dirty="0">
                <a:latin typeface="微软雅黑" charset="0"/>
                <a:ea typeface="微软雅黑" charset="0"/>
              </a:rPr>
              <a:t>     </a:t>
            </a:r>
            <a:r>
              <a:rPr lang="zh-CN" altLang="zh-CN" sz="1600" dirty="0" smtClean="0">
                <a:latin typeface="微软雅黑" charset="0"/>
                <a:ea typeface="微软雅黑" charset="0"/>
              </a:rPr>
              <a:t>也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存在连续成功无失败，最多连续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8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次成功；</a:t>
            </a:r>
            <a:endParaRPr lang="zh-CN" altLang="zh-CN" sz="1600" dirty="0">
              <a:latin typeface="微软雅黑" charset="0"/>
              <a:ea typeface="微软雅黑" charset="0"/>
            </a:endParaRPr>
          </a:p>
          <a:p>
            <a:r>
              <a:rPr lang="en-US" altLang="zh-CN" sz="1600" dirty="0">
                <a:latin typeface="微软雅黑" charset="0"/>
                <a:ea typeface="微软雅黑" charset="0"/>
              </a:rPr>
              <a:t>4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）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这次车上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MDC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版本是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/MDC_0319_BJEV/Develop  </a:t>
            </a:r>
            <a:endParaRPr lang="en-US" altLang="zh-CN" sz="1600" dirty="0">
              <a:latin typeface="微软雅黑" charset="0"/>
              <a:ea typeface="微软雅黑" charset="0"/>
            </a:endParaRPr>
          </a:p>
          <a:p>
            <a:r>
              <a:rPr lang="en-US" altLang="zh-CN" sz="1600" dirty="0">
                <a:latin typeface="微软雅黑" charset="0"/>
                <a:ea typeface="微软雅黑" charset="0"/>
              </a:rPr>
              <a:t>    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 </a:t>
            </a:r>
            <a:r>
              <a:rPr lang="zh-CN" altLang="zh-CN" sz="1600" dirty="0" smtClean="0">
                <a:latin typeface="微软雅黑" charset="0"/>
                <a:ea typeface="微软雅黑" charset="0"/>
              </a:rPr>
              <a:t>上次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是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MDC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版本是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5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月份版本：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/MDC_0514_BJEV/Develop</a:t>
            </a:r>
            <a:endParaRPr lang="zh-CN" altLang="zh-CN" sz="1600" dirty="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326232" y="848788"/>
            <a:ext cx="9219848" cy="172023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HW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故障复现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charset="0"/>
                <a:ea typeface="微软雅黑" charset="0"/>
              </a:rPr>
              <a:t>     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-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M1</a:t>
            </a:r>
            <a:r>
              <a:rPr lang="zh-CN" altLang="zh-CN" sz="1600" dirty="0" smtClean="0">
                <a:latin typeface="微软雅黑" charset="0"/>
                <a:ea typeface="微软雅黑" charset="0"/>
              </a:rPr>
              <a:t>侧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抓取</a:t>
            </a:r>
            <a:r>
              <a:rPr lang="zh-CN" altLang="zh-CN" sz="1600" dirty="0" smtClean="0">
                <a:latin typeface="微软雅黑" charset="0"/>
                <a:ea typeface="微软雅黑" charset="0"/>
              </a:rPr>
              <a:t>报文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：按照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如下接线方式，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OTA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升级无失败，导致无法抓取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M1</a:t>
            </a:r>
            <a:r>
              <a:rPr lang="zh-CN" altLang="zh-CN" sz="1600" dirty="0">
                <a:latin typeface="微软雅黑" charset="0"/>
                <a:ea typeface="微软雅黑" charset="0"/>
              </a:rPr>
              <a:t>侧报文</a:t>
            </a:r>
            <a:endParaRPr lang="en-US" altLang="zh-CN" sz="1600" dirty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en-US" altLang="zh-CN" dirty="0" smtClean="0"/>
          </a:p>
          <a:p>
            <a:pPr indent="0">
              <a:lnSpc>
                <a:spcPct val="150000"/>
              </a:lnSpc>
              <a:buNone/>
            </a:pPr>
            <a:endParaRPr lang="en-US" altLang="zh-CN" sz="1600" dirty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en-US" altLang="zh-CN" sz="1600" dirty="0" smtClean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en-US" altLang="zh-CN" sz="1600" dirty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en-US" altLang="zh-CN" sz="1600" dirty="0" smtClean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36914" y="24558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455" y="2156188"/>
            <a:ext cx="9267825" cy="3486150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326231" y="848788"/>
            <a:ext cx="10177791" cy="172023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HW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故障复现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charset="0"/>
                <a:ea typeface="微软雅黑" charset="0"/>
              </a:rPr>
              <a:t>     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-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右侧激光雷达换到前侧激光雷达，升级路径按照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S007.003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到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S007.006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，做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压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测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190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次无失效</a:t>
            </a:r>
            <a:endParaRPr lang="en-US" altLang="zh-CN" sz="1600" dirty="0" smtClean="0">
              <a:latin typeface="微软雅黑" charset="0"/>
              <a:ea typeface="微软雅黑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 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    -S007.009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升级到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S007.009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，整车接线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方式压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测到第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9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次升级失败</a:t>
            </a:r>
            <a:endParaRPr lang="en-US" altLang="zh-CN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en-US" altLang="zh-CN" sz="1600" dirty="0" smtClean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en-US" altLang="zh-CN" sz="1600" dirty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en-US" altLang="zh-CN" sz="1600" dirty="0" smtClean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36914" y="24558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537255" y="819869"/>
            <a:ext cx="9684704" cy="75154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charset="0"/>
                <a:ea typeface="微软雅黑" charset="0"/>
              </a:rPr>
              <a:t>速腾端确认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>
                <a:latin typeface="微软雅黑" charset="0"/>
                <a:ea typeface="微软雅黑" charset="0"/>
              </a:rPr>
              <a:t> 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1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.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用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12monitor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读取数据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: 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软件版本为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S007.009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和出现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OTA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错误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.</a:t>
            </a:r>
            <a:endParaRPr lang="zh-CN" altLang="en-US" sz="1600" dirty="0" smtClean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  </a:t>
            </a: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0354849" y="313151"/>
            <a:ext cx="1356986" cy="64717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2022/8/24</a:t>
            </a:r>
            <a:endParaRPr lang="zh-CN" altLang="en-US"/>
          </a:p>
        </p:txBody>
      </p:sp>
      <p:pic>
        <p:nvPicPr>
          <p:cNvPr id="6" name="图片 5" descr="upload_724423298"/>
          <p:cNvPicPr>
            <a:picLocks noChangeAspect="1"/>
          </p:cNvPicPr>
          <p:nvPr/>
        </p:nvPicPr>
        <p:blipFill>
          <a:blip r:embed="rId1"/>
          <a:srcRect b="11066"/>
          <a:stretch>
            <a:fillRect/>
          </a:stretch>
        </p:blipFill>
        <p:spPr>
          <a:xfrm>
            <a:off x="1742222" y="1690980"/>
            <a:ext cx="7455685" cy="3774814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533301" y="816087"/>
            <a:ext cx="9685055" cy="35282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charset="0"/>
                <a:ea typeface="微软雅黑" charset="0"/>
              </a:rPr>
              <a:t>速腾端确认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>
                <a:latin typeface="微软雅黑" charset="0"/>
                <a:ea typeface="微软雅黑" charset="0"/>
              </a:rPr>
              <a:t> 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2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.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读取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flash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 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A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区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code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和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S007.009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对比，发现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A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区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code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被篡改</a:t>
            </a:r>
            <a:endParaRPr lang="zh-CN" altLang="en-US" sz="1600" dirty="0" smtClean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  </a:t>
            </a: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0354849" y="313151"/>
            <a:ext cx="1356986" cy="64717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2022/8/24</a:t>
            </a:r>
            <a:endParaRPr lang="zh-CN" altLang="en-US"/>
          </a:p>
        </p:txBody>
      </p:sp>
      <p:pic>
        <p:nvPicPr>
          <p:cNvPr id="6" name="图片 5" descr="upload_0602739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547" y="2220479"/>
            <a:ext cx="10273985" cy="4107886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533301" y="816087"/>
            <a:ext cx="9685055" cy="35282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charset="0"/>
                <a:ea typeface="微软雅黑" charset="0"/>
              </a:rPr>
              <a:t>速腾端确认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>
                <a:latin typeface="微软雅黑" charset="0"/>
                <a:ea typeface="微软雅黑" charset="0"/>
              </a:rPr>
              <a:t> 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3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.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读取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flash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 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B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区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code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和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S007.009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对比，发现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B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区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code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和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S007.009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一样，没被改写</a:t>
            </a:r>
            <a:endParaRPr lang="zh-CN" altLang="en-US" sz="1600" dirty="0" smtClean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  </a:t>
            </a: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0354849" y="313151"/>
            <a:ext cx="1356986" cy="64717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2022/8/24</a:t>
            </a:r>
            <a:endParaRPr lang="zh-CN" altLang="en-US"/>
          </a:p>
        </p:txBody>
      </p:sp>
      <p:pic>
        <p:nvPicPr>
          <p:cNvPr id="3" name="图片 2" descr="upload_9004232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135" y="2032592"/>
            <a:ext cx="9915292" cy="3766274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537255" y="819869"/>
            <a:ext cx="9684704" cy="499607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charset="0"/>
                <a:ea typeface="微软雅黑" charset="0"/>
              </a:rPr>
              <a:t>速腾端确认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>
                <a:latin typeface="微软雅黑" charset="0"/>
                <a:ea typeface="微软雅黑" charset="0"/>
              </a:rPr>
              <a:t> 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软件分析初步结论：升级过程中写入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flash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的数据被改写，导致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RSA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签名或者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CRC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校验不过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.</a:t>
            </a:r>
            <a:endParaRPr lang="en-US" altLang="zh-CN" sz="1600" dirty="0" smtClean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 smtClean="0">
                <a:latin typeface="微软雅黑" charset="0"/>
                <a:ea typeface="微软雅黑" charset="0"/>
              </a:rPr>
              <a:t>    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1.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改写原因一：诊断数据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(0x36,0x37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服务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)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从物理层传输到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bootloader </a:t>
            </a:r>
            <a:r>
              <a:rPr lang="zh-CN" altLang="en-US" sz="1600" dirty="0" smtClean="0">
                <a:latin typeface="微软雅黑" charset="0"/>
                <a:ea typeface="微软雅黑" charset="0"/>
              </a:rPr>
              <a:t>应用层时数据被改写</a:t>
            </a:r>
            <a:endParaRPr lang="en-US" altLang="zh-CN" sz="1600" dirty="0" smtClean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 smtClean="0">
                <a:latin typeface="微软雅黑" charset="0"/>
                <a:ea typeface="微软雅黑" charset="0"/>
              </a:rPr>
              <a:t>    </a:t>
            </a:r>
            <a:r>
              <a:rPr lang="en-US" altLang="zh-CN" sz="1600" dirty="0" smtClean="0">
                <a:latin typeface="微软雅黑" charset="0"/>
                <a:ea typeface="微软雅黑" charset="0"/>
              </a:rPr>
              <a:t>2.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改写原因二：应用层写入数据到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flash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时，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flash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的数据没有正确写入</a:t>
            </a:r>
            <a:endParaRPr lang="zh-CN" altLang="en-US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sz="1600" dirty="0" smtClean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 smtClean="0">
                <a:latin typeface="微软雅黑" charset="0"/>
                <a:ea typeface="微软雅黑" charset="0"/>
              </a:rPr>
              <a:t>经分析发现是：</a:t>
            </a:r>
            <a:endParaRPr lang="zh-CN" altLang="en-US" sz="1600" dirty="0" smtClean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    应用层写入数据到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flash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时，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flash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的数据没有正确写入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(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经查验诊断服务传输数据的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CRC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是正确的，而读取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Flash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数据后计算的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CRC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是错误的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)</a:t>
            </a:r>
            <a:endParaRPr lang="en-US" altLang="zh-CN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sz="1600" dirty="0" smtClean="0"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b="1" dirty="0" smtClean="0">
                <a:latin typeface="微软雅黑" charset="0"/>
                <a:ea typeface="微软雅黑" charset="0"/>
                <a:sym typeface="+mn-ea"/>
              </a:rPr>
              <a:t> 下一步计划：</a:t>
            </a:r>
            <a:endParaRPr lang="zh-CN" altLang="en-US" sz="1600" b="1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AB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实验：</a:t>
            </a:r>
            <a:endParaRPr lang="zh-CN" altLang="en-US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取机器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A(A512S00791M103000034AE00121261)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和退机器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B(</a:t>
            </a:r>
            <a:r>
              <a:rPr b="0" u="none"/>
              <a:t>A512S00791N061600014AE00121261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)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，交换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A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和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B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charset="0"/>
                <a:ea typeface="微软雅黑" charset="0"/>
              </a:rPr>
              <a:t>的数字板，验证问题再哪台机器上出现。</a:t>
            </a:r>
            <a:endParaRPr lang="en-US" altLang="zh-CN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0354849" y="313151"/>
            <a:ext cx="1356986" cy="64717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2022/8/24</a:t>
            </a:r>
            <a:endParaRPr lang="zh-CN" altLang="en-US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537255" y="819869"/>
            <a:ext cx="9684704" cy="499607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charset="0"/>
                <a:ea typeface="微软雅黑" charset="0"/>
              </a:rPr>
              <a:t>速腾端确认</a:t>
            </a:r>
            <a:endParaRPr lang="zh-CN" altLang="en-US" sz="1600" b="1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AB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实验结果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:</a:t>
            </a:r>
            <a:endParaRPr lang="en-US" altLang="zh-CN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机器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A(A512S00791M103000034AE00121261)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外围部件加客退机器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B(</a:t>
            </a:r>
            <a:r>
              <a:rPr sz="1600">
                <a:sym typeface="+mn-ea"/>
              </a:rPr>
              <a:t>A512S00791N061600014AE00121261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)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的数字板：问题复现，测试结果原封客退机器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B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一致</a:t>
            </a:r>
            <a:endParaRPr lang="zh-CN" altLang="en-US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endParaRPr lang="en-US" altLang="zh-CN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0354849" y="313151"/>
            <a:ext cx="1356986" cy="64717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2022/9/1</a:t>
            </a:r>
            <a:endParaRPr lang="zh-CN" altLang="en-US"/>
          </a:p>
        </p:txBody>
      </p:sp>
      <p:pic>
        <p:nvPicPr>
          <p:cNvPr id="3" name="图片 2" descr="upload_41397929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255" y="2920784"/>
            <a:ext cx="4953376" cy="2553551"/>
          </a:xfrm>
          <a:prstGeom prst="rect">
            <a:avLst/>
          </a:prstGeom>
        </p:spPr>
      </p:pic>
      <p:pic>
        <p:nvPicPr>
          <p:cNvPr id="6" name="图片 5" descr="upload_5334192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323" y="2382745"/>
            <a:ext cx="4124966" cy="3168452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537255" y="819869"/>
            <a:ext cx="9684704" cy="499607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charset="0"/>
                <a:ea typeface="微软雅黑" charset="0"/>
              </a:rPr>
              <a:t>速腾端确认</a:t>
            </a:r>
            <a:endParaRPr lang="zh-CN" altLang="en-US" sz="1600" b="1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AB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实验结果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:</a:t>
            </a:r>
            <a:endParaRPr lang="en-US" altLang="zh-CN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机器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A(A512S00791M103000034AE00121261)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数字板加客退机器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B(</a:t>
            </a:r>
            <a:r>
              <a:rPr sz="1600">
                <a:sym typeface="+mn-ea"/>
              </a:rPr>
              <a:t>A512S00791N061600014AE00121261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)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的外围部件：问题不再出现</a:t>
            </a:r>
            <a:endParaRPr lang="zh-CN" altLang="en-US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endParaRPr lang="en-US" altLang="zh-CN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0354849" y="313151"/>
            <a:ext cx="1356986" cy="64717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2022/9/1</a:t>
            </a:r>
            <a:endParaRPr lang="zh-CN" altLang="en-US"/>
          </a:p>
        </p:txBody>
      </p:sp>
      <p:pic>
        <p:nvPicPr>
          <p:cNvPr id="7" name="图片 6" descr="upload_0641660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440" y="2468148"/>
            <a:ext cx="6285663" cy="3236775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537255" y="819869"/>
            <a:ext cx="9684704" cy="499607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charset="0"/>
                <a:ea typeface="微软雅黑" charset="0"/>
              </a:rPr>
              <a:t>速腾端确认</a:t>
            </a:r>
            <a:endParaRPr lang="zh-CN" altLang="en-US" sz="1600" b="1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软件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Debug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版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(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可定位失效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flash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地址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)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数据验证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:</a:t>
            </a:r>
            <a:endParaRPr lang="en-US" altLang="zh-CN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每次失效都在第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39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个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block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数据段</a:t>
            </a:r>
            <a:endParaRPr lang="en-US" altLang="zh-CN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endParaRPr lang="en-US" altLang="zh-CN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endParaRPr lang="en-US" altLang="zh-CN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0354849" y="313151"/>
            <a:ext cx="1356986" cy="64717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2022/9/1</a:t>
            </a:r>
            <a:endParaRPr lang="zh-CN" altLang="en-US"/>
          </a:p>
        </p:txBody>
      </p:sp>
      <p:pic>
        <p:nvPicPr>
          <p:cNvPr id="3" name="图片 2" descr="upload_0312191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383" y="2211938"/>
            <a:ext cx="4244531" cy="3715032"/>
          </a:xfrm>
          <a:prstGeom prst="rect">
            <a:avLst/>
          </a:prstGeom>
        </p:spPr>
      </p:pic>
      <p:pic>
        <p:nvPicPr>
          <p:cNvPr id="6" name="图片 5" descr="upload_5066762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356" y="905272"/>
            <a:ext cx="3527145" cy="5064400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320800" y="317285"/>
            <a:ext cx="3567084" cy="4217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D4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、原因分析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537255" y="819869"/>
            <a:ext cx="9684704" cy="53547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charset="0"/>
                <a:ea typeface="微软雅黑" charset="0"/>
              </a:rPr>
              <a:t>速腾端确认</a:t>
            </a:r>
            <a:endParaRPr lang="zh-CN" altLang="en-US" sz="1600" b="1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OTA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刷写参数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:</a:t>
            </a:r>
            <a:endParaRPr lang="en-US" altLang="zh-CN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Start Address                    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==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&gt;: 0x00000000 End Address                      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==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&gt;: 0x006B4BF3</a:t>
            </a:r>
            <a:endParaRPr lang="en-US" altLang="zh-CN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Block size(bytes)                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==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&gt;: 16384</a:t>
            </a:r>
            <a:endParaRPr lang="en-US" altLang="zh-CN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定位失效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flash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地址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(39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段失败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)</a:t>
            </a: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段为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:</a:t>
            </a:r>
            <a:endParaRPr lang="en-US" altLang="zh-CN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1600" dirty="0" smtClean="0">
                <a:solidFill>
                  <a:srgbClr val="FF0000"/>
                </a:solidFill>
                <a:latin typeface="微软雅黑" charset="0"/>
                <a:ea typeface="微软雅黑" charset="0"/>
                <a:sym typeface="+mn-ea"/>
              </a:rPr>
              <a:t>[38*16384, </a:t>
            </a:r>
            <a:r>
              <a:rPr lang="en-US" altLang="zh-CN" sz="1600" dirty="0" smtClean="0">
                <a:solidFill>
                  <a:srgbClr val="FF0000"/>
                </a:solidFill>
                <a:latin typeface="微软雅黑" charset="0"/>
                <a:ea typeface="微软雅黑" charset="0"/>
                <a:sym typeface="+mn-ea"/>
              </a:rPr>
              <a:t>16384*39</a:t>
            </a:r>
            <a:r>
              <a:rPr lang="en-US" altLang="zh-CN" sz="1600" dirty="0" smtClean="0">
                <a:solidFill>
                  <a:srgbClr val="FF0000"/>
                </a:solidFill>
                <a:latin typeface="微软雅黑" charset="0"/>
                <a:ea typeface="微软雅黑" charset="0"/>
                <a:sym typeface="+mn-ea"/>
              </a:rPr>
              <a:t>] 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charset="0"/>
                <a:ea typeface="微软雅黑" charset="0"/>
                <a:sym typeface="+mn-ea"/>
              </a:rPr>
              <a:t>= </a:t>
            </a:r>
            <a:r>
              <a:rPr lang="en-US" altLang="zh-CN" sz="1600" dirty="0" smtClean="0">
                <a:solidFill>
                  <a:srgbClr val="FF0000"/>
                </a:solidFill>
                <a:latin typeface="微软雅黑" charset="0"/>
                <a:ea typeface="微软雅黑" charset="0"/>
                <a:sym typeface="+mn-ea"/>
              </a:rPr>
              <a:t>[622592, 638976] 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charset="0"/>
                <a:ea typeface="微软雅黑" charset="0"/>
                <a:sym typeface="+mn-ea"/>
              </a:rPr>
              <a:t>= </a:t>
            </a:r>
            <a:r>
              <a:rPr lang="en-US" altLang="zh-CN" sz="1600" dirty="0" smtClean="0">
                <a:solidFill>
                  <a:srgbClr val="FF0000"/>
                </a:solidFill>
                <a:latin typeface="微软雅黑" charset="0"/>
                <a:ea typeface="微软雅黑" charset="0"/>
                <a:sym typeface="+mn-ea"/>
              </a:rPr>
              <a:t>[0x98000, 0x9C000]</a:t>
            </a:r>
            <a:endParaRPr lang="en-US" altLang="zh-CN" sz="1600" dirty="0" smtClean="0">
              <a:solidFill>
                <a:srgbClr val="FF0000"/>
              </a:solidFill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 smtClean="0">
                <a:latin typeface="微软雅黑" charset="0"/>
                <a:ea typeface="微软雅黑" charset="0"/>
                <a:sym typeface="+mn-ea"/>
              </a:rPr>
              <a:t>失效数据段与客退机器原始数据段一致，所以刷写失败为同一数据段</a:t>
            </a:r>
            <a:r>
              <a:rPr lang="en-US" altLang="zh-CN" sz="1600" dirty="0" smtClean="0">
                <a:latin typeface="微软雅黑" charset="0"/>
                <a:ea typeface="微软雅黑" charset="0"/>
                <a:sym typeface="+mn-ea"/>
              </a:rPr>
              <a:t>.</a:t>
            </a:r>
            <a:endParaRPr lang="zh-CN" altLang="en-US" sz="1600" dirty="0" smtClean="0">
              <a:latin typeface="微软雅黑" charset="0"/>
              <a:ea typeface="微软雅黑" charset="0"/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endParaRPr lang="en-US" altLang="zh-CN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sz="1600" dirty="0" smtClean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0354849" y="313151"/>
            <a:ext cx="1356986" cy="647178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2022/9/1</a:t>
            </a:r>
            <a:endParaRPr lang="zh-CN" altLang="en-US"/>
          </a:p>
        </p:txBody>
      </p:sp>
      <p:pic>
        <p:nvPicPr>
          <p:cNvPr id="7" name="图片 6" descr="upload_0602739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2658" y="3492984"/>
            <a:ext cx="6225881" cy="2485228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3186</Words>
  <Application>WWO_base_provider_20210929220102-c9fcf70066</Application>
  <PresentationFormat>宽屏</PresentationFormat>
  <Paragraphs>454</Paragraphs>
  <Slides>25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汉仪旗黑KW 55S</vt:lpstr>
      <vt:lpstr>Kingsoft Confetti</vt:lpstr>
      <vt:lpstr>微软雅黑</vt:lpstr>
      <vt:lpstr>PingFang SC Semibold</vt:lpstr>
      <vt:lpstr>汉仪书宋二KW</vt:lpstr>
      <vt:lpstr>PingFang SC</vt:lpstr>
      <vt:lpstr>Calibri</vt:lpstr>
      <vt:lpstr>system-ui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Leo Hu</cp:lastModifiedBy>
  <dcterms:created xsi:type="dcterms:W3CDTF">2022-09-19T02:11:47Z</dcterms:created>
  <dcterms:modified xsi:type="dcterms:W3CDTF">2022-09-19T02:11:47Z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