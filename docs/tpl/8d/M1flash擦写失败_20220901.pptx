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1689" r:id="rId4"/>
    <p:sldId id="1736" r:id="rId6"/>
    <p:sldId id="1738" r:id="rId7"/>
    <p:sldId id="1692" r:id="rId8"/>
    <p:sldId id="1746" r:id="rId9"/>
    <p:sldId id="1755" r:id="rId10"/>
    <p:sldId id="1758" r:id="rId11"/>
    <p:sldId id="1760" r:id="rId12"/>
    <p:sldId id="1762" r:id="rId13"/>
    <p:sldId id="32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xiaomei" initials="l" lastIdx="8" clrIdx="0"/>
  <p:cmAuthor id="1" name="Icey Zhang" initials="IZ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65A5A"/>
    <a:srgbClr val="E6E6E6"/>
    <a:srgbClr val="555A5A"/>
    <a:srgbClr val="D85252"/>
    <a:srgbClr val="08E662"/>
    <a:srgbClr val="CC00CC"/>
    <a:srgbClr val="FFCCCC"/>
    <a:srgbClr val="FF797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73" autoAdjust="0"/>
    <p:restoredTop sz="96379" autoAdjust="0"/>
  </p:normalViewPr>
  <p:slideViewPr>
    <p:cSldViewPr snapToGrid="0">
      <p:cViewPr varScale="1">
        <p:scale>
          <a:sx n="87" d="100"/>
          <a:sy n="87" d="100"/>
        </p:scale>
        <p:origin x="648" y="77"/>
      </p:cViewPr>
      <p:guideLst>
        <p:guide orient="horz" pos="2465"/>
        <p:guide pos="370"/>
        <p:guide pos="4566"/>
        <p:guide orient="horz" pos="2568"/>
        <p:guide pos="3046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6F882-F3F6-43D7-8DA5-CF86B46F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BB047-0D03-4664-AB83-ED193B7B0F5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7AA11A-B587-5049-9642-DDD29A6452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749AB3-2B65-2C41-BF27-A2847558BD5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985"/>
            <a:ext cx="12192000" cy="50601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238660" y="6420326"/>
            <a:ext cx="442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RoboSense Confidential Information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427865" y="6420326"/>
            <a:ext cx="2630785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Provided Under NDA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0" y="0"/>
            <a:ext cx="922789" cy="9227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162" y="-114300"/>
            <a:ext cx="12192000" cy="6858000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905943" y="2278148"/>
            <a:ext cx="10065790" cy="769441"/>
          </a:xfrm>
          <a:prstGeom prst="rect">
            <a:avLst/>
          </a:prstGeom>
          <a:solidFill>
            <a:srgbClr val="565A5A"/>
          </a:solidFill>
        </p:spPr>
        <p:txBody>
          <a:bodyPr wrap="square" rtlCol="0">
            <a:spAutoFit/>
          </a:bodyPr>
          <a:lstStyle/>
          <a:p>
            <a:pPr algn="ctr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M1flash</a:t>
            </a:r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擦写失败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 rot="10800000">
            <a:off x="406826" y="1009044"/>
            <a:ext cx="1659890" cy="500888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9600" b="1" dirty="0">
                <a:solidFill>
                  <a:schemeClr val="bg1">
                    <a:lumMod val="75000"/>
                  </a:schemeClr>
                </a:solidFill>
                <a:latin typeface="PingFang SC Semibold" charset="-122"/>
                <a:ea typeface="PingFang SC Semibold" charset="-122"/>
                <a:cs typeface="PingFang SC Semibold" charset="-122"/>
              </a:rPr>
              <a:t>Contents</a:t>
            </a:r>
            <a:endParaRPr kumimoji="1" lang="zh-CN" altLang="en-US" sz="9600" b="1" dirty="0">
              <a:solidFill>
                <a:schemeClr val="bg1">
                  <a:lumMod val="75000"/>
                </a:schemeClr>
              </a:solidFill>
              <a:latin typeface="PingFang SC Semibold" charset="-122"/>
              <a:ea typeface="PingFang SC Semibold" charset="-122"/>
              <a:cs typeface="PingFang SC Semibold" charset="-122"/>
            </a:endParaRPr>
          </a:p>
        </p:txBody>
      </p:sp>
      <p:cxnSp>
        <p:nvCxnSpPr>
          <p:cNvPr id="22" name="直线连接符 21"/>
          <p:cNvCxnSpPr/>
          <p:nvPr/>
        </p:nvCxnSpPr>
        <p:spPr>
          <a:xfrm>
            <a:off x="2004042" y="400920"/>
            <a:ext cx="40943" cy="5786651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2965621" y="1362750"/>
            <a:ext cx="2985521" cy="3893258"/>
            <a:chOff x="2965621" y="1362750"/>
            <a:chExt cx="2985521" cy="3893258"/>
          </a:xfrm>
        </p:grpSpPr>
        <p:sp>
          <p:nvSpPr>
            <p:cNvPr id="12" name="矩形 11"/>
            <p:cNvSpPr/>
            <p:nvPr/>
          </p:nvSpPr>
          <p:spPr>
            <a:xfrm>
              <a:off x="2965621" y="1444443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294646" y="1362750"/>
              <a:ext cx="148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D1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团队组建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87433" y="1853319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D2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294646" y="2366309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D3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临时措施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294646" y="2887444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D4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原因分析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294646" y="3397753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D5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和验证永久措施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294646" y="389479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D6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实施和确认永久措施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294646" y="4400700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D7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预防措施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280220" y="4886676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D8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团队庆祝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965621" y="1934595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2965621" y="2443576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2965621" y="2968822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2965621" y="3488299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2965621" y="3987036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2965621" y="4462718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2965621" y="4968702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D1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、团队组建</a:t>
            </a:r>
            <a:endParaRPr lang="zh-CN" altLang="en-US" sz="2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98373" y="1642560"/>
          <a:ext cx="941924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60"/>
                <a:gridCol w="2261062"/>
                <a:gridCol w="2192559"/>
                <a:gridCol w="3177463"/>
              </a:tblGrid>
              <a:tr h="2757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职位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2757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主导人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Bryce</a:t>
                      </a:r>
                      <a:r>
                        <a:rPr lang="en-US" altLang="zh-CN" sz="14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WANG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项目质量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分析协调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5787">
                <a:tc rowSpan="5">
                  <a:txBody>
                    <a:bodyPr/>
                    <a:lstStyle/>
                    <a:p>
                      <a:pPr algn="ctr"/>
                      <a:endParaRPr lang="en-US" altLang="zh-CN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Patrick Zhang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项目协调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578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Leo Hu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系统工程师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5787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Kevin</a:t>
                      </a:r>
                      <a:r>
                        <a:rPr lang="en-US" altLang="zh-CN" sz="14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W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ang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技术支持经理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5787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YingYing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产品经理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578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Mike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zhu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软件负责人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D2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、问题描述</a:t>
            </a:r>
            <a:endParaRPr lang="zh-CN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06235" y="952427"/>
          <a:ext cx="10131010" cy="3465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672"/>
                <a:gridCol w="8744338"/>
              </a:tblGrid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Who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SN: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A512S00791M050700018AE00121261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When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2022/08/29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Where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上海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What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N61-06-EP3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车上左激光雷达从</a:t>
                      </a: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S007.008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升级</a:t>
                      </a: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S007.003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S007.004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S007.006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S007.008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S007.009,S006.026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版本都是失败，激光雷达下电或者整车下电等操作后，再升级左激光雷达也是失败，问题必现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Why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Flash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擦写失败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How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室外常温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How </a:t>
                      </a:r>
                      <a:r>
                        <a:rPr lang="en-US" altLang="zh-CN" sz="1600" dirty="0" smtClean="0">
                          <a:latin typeface="微软雅黑" charset="0"/>
                          <a:ea typeface="微软雅黑" charset="0"/>
                        </a:rPr>
                        <a:t>Many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PCS       </a:t>
                      </a:r>
                      <a:endParaRPr lang="en-US" altLang="zh-CN" sz="16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320800" y="4656383"/>
            <a:ext cx="15982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事件时间轴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0447" y="5945149"/>
            <a:ext cx="11445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2021/5/7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406235" y="5868786"/>
            <a:ext cx="9699567" cy="249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等腰三角形 12"/>
          <p:cNvSpPr/>
          <p:nvPr/>
        </p:nvSpPr>
        <p:spPr>
          <a:xfrm rot="10800000">
            <a:off x="1978828" y="5607580"/>
            <a:ext cx="303876" cy="2457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713503" y="5120203"/>
            <a:ext cx="9417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生产日期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713531" y="5945149"/>
            <a:ext cx="11445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2022/8/29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等腰三角形 18"/>
          <p:cNvSpPr/>
          <p:nvPr/>
        </p:nvSpPr>
        <p:spPr>
          <a:xfrm rot="10800000">
            <a:off x="4061042" y="5607580"/>
            <a:ext cx="303876" cy="2457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842449" y="5945149"/>
            <a:ext cx="11445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2022/9/1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等腰三角形 21"/>
          <p:cNvSpPr/>
          <p:nvPr/>
        </p:nvSpPr>
        <p:spPr>
          <a:xfrm rot="10800000">
            <a:off x="7163582" y="5607580"/>
            <a:ext cx="303876" cy="2457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842449" y="5079400"/>
            <a:ext cx="11906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问题确认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769583" y="5120202"/>
            <a:ext cx="11906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客户反馈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D3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、临时措施</a:t>
            </a:r>
            <a:endParaRPr lang="zh-CN" altLang="en-US" sz="24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53316" y="1879798"/>
          <a:ext cx="8919210" cy="793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042"/>
                <a:gridCol w="3200050"/>
                <a:gridCol w="1248507"/>
                <a:gridCol w="1314801"/>
                <a:gridCol w="1413163"/>
                <a:gridCol w="1075400"/>
              </a:tblGrid>
              <a:tr h="2625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临时措施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计划完成时间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实际完成时间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306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拆件返厂进行分析，进行故障复现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HW</a:t>
                      </a: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2022/9/1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2022/9/1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Done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0800" y="847754"/>
            <a:ext cx="39809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问题确认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0974" y="1186308"/>
            <a:ext cx="9991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客户反馈报文确认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00974" y="5348000"/>
            <a:ext cx="9991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初步结论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:Flash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擦写失败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650" y="1879667"/>
            <a:ext cx="5725002" cy="2884946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3747" y="845490"/>
            <a:ext cx="7455685" cy="48423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Robosense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问题分析：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None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 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12monitor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数据如下：机器有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OTA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故障</a:t>
            </a:r>
            <a:endParaRPr lang="zh-CN" altLang="en-US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buNone/>
            </a:pPr>
            <a:endParaRPr lang="zh-CN" altLang="en-US" sz="1600" b="1" dirty="0" smtClean="0">
              <a:latin typeface="微软雅黑" charset="0"/>
              <a:ea typeface="微软雅黑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upload_039914068"/>
          <p:cNvPicPr>
            <a:picLocks noChangeAspect="1"/>
          </p:cNvPicPr>
          <p:nvPr/>
        </p:nvPicPr>
        <p:blipFill>
          <a:blip r:embed="rId1"/>
          <a:srcRect b="11273"/>
          <a:stretch>
            <a:fillRect/>
          </a:stretch>
        </p:blipFill>
        <p:spPr>
          <a:xfrm>
            <a:off x="1426231" y="1426231"/>
            <a:ext cx="7139693" cy="3629629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3747" y="845490"/>
            <a:ext cx="8548843" cy="48423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Robosense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问题分析：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None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擦除超时导致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bootloader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复位：</a:t>
            </a: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原因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: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经过分析此样机擦除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flash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时间比正常机器长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(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超过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30S),bootloader 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在刷写过程中如果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30S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内没有收到新的诊断命令则会自己触发复位，从而导致擦除失败</a:t>
            </a:r>
            <a:endParaRPr lang="zh-CN" altLang="en-US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buNone/>
            </a:pPr>
            <a:endParaRPr lang="zh-CN" altLang="en-US" sz="1600" b="1" dirty="0" smtClean="0">
              <a:latin typeface="微软雅黑" charset="0"/>
              <a:ea typeface="微软雅黑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upload_5926078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448" y="2083834"/>
            <a:ext cx="8437819" cy="3902918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3747" y="845490"/>
            <a:ext cx="8958778" cy="48423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Robosense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问题分析：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None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 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正常机器擦除时间如下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正常机器擦除时间小于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30S</a:t>
            </a:r>
            <a:endParaRPr lang="zh-CN" altLang="en-US" sz="1600" b="1" dirty="0" smtClean="0">
              <a:latin typeface="微软雅黑" charset="0"/>
              <a:ea typeface="微软雅黑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upload_9814529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690" y="1887407"/>
            <a:ext cx="8583005" cy="3552766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3747" y="845490"/>
            <a:ext cx="8958778" cy="48423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Robosense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问题分析：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None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Bootloader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擦除超时为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160S(Debug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版本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),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升级成功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器擦除时间如下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机器擦除时间刚好超过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30S</a:t>
            </a:r>
            <a:endParaRPr lang="zh-CN" altLang="en-US" sz="1600" b="1" dirty="0" smtClean="0">
              <a:latin typeface="微软雅黑" charset="0"/>
              <a:ea typeface="微软雅黑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upload_4634335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75" y="1964270"/>
            <a:ext cx="9804268" cy="2613333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</Words>
  <Application>WWO_base_provider_20210929220102-c9fcf70066</Application>
  <PresentationFormat>宽屏</PresentationFormat>
  <Paragraphs>203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汉仪旗黑KW 55S</vt:lpstr>
      <vt:lpstr>Kingsoft Confetti</vt:lpstr>
      <vt:lpstr>PingFang SC Semibold</vt:lpstr>
      <vt:lpstr>汉仪书宋二KW</vt:lpstr>
      <vt:lpstr>PingFang SC</vt:lpstr>
      <vt:lpstr>微软雅黑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Leo Hu</cp:lastModifiedBy>
  <dcterms:created xsi:type="dcterms:W3CDTF">2022-09-06T02:22:27Z</dcterms:created>
  <dcterms:modified xsi:type="dcterms:W3CDTF">2022-09-06T02:22:27Z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