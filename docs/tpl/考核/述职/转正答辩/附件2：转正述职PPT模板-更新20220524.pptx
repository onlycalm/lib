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1632" r:id="rId4"/>
    <p:sldId id="1633" r:id="rId5"/>
    <p:sldId id="1896" r:id="rId6"/>
    <p:sldId id="1897" r:id="rId7"/>
    <p:sldId id="1899" r:id="rId8"/>
    <p:sldId id="1638" r:id="rId9"/>
    <p:sldId id="189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0C642-5005-4AAF-816F-EDAD806ADC40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0D207-EEBF-4059-BBC5-99C313A88B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89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F1E52A5-86F1-437B-9D44-4FFBF137F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6F246F0-C071-43F1-9ED1-F8599EDED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6338" y="1122363"/>
            <a:ext cx="6023728" cy="2387600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13469E-E368-42AA-9BCE-B1DD4A972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062" y="3528219"/>
            <a:ext cx="4260915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673AE8-8F09-49A9-874A-666AA827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6181" y="634018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8C3A2F-10CD-4A6C-8B75-C644C8B4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2687" y="638361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7B1CF3-6288-4E72-B9B2-D7A371EAD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5379" y="6383612"/>
            <a:ext cx="2818615" cy="365125"/>
          </a:xfrm>
          <a:prstGeom prst="rect">
            <a:avLst/>
          </a:prstGeom>
        </p:spPr>
        <p:txBody>
          <a:bodyPr/>
          <a:lstStyle/>
          <a:p>
            <a:fld id="{6985ECAD-7EE8-4982-B7BA-2B4CB518B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024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54191-2398-4907-B39E-4A18B8AC7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394" y="109263"/>
            <a:ext cx="10313709" cy="6384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0D9686-01DB-4151-A068-7A9CE88FA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182" y="1140643"/>
            <a:ext cx="11085921" cy="4958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1E4B46C-DDB9-4EDB-BE52-C0E4357A5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90780" y="6356350"/>
            <a:ext cx="2610440" cy="392387"/>
          </a:xfrm>
          <a:prstGeom prst="rect">
            <a:avLst/>
          </a:prstGeom>
        </p:spPr>
        <p:txBody>
          <a:bodyPr anchor="ctr"/>
          <a:lstStyle>
            <a:lvl1pPr algn="ctr">
              <a:defRPr sz="105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985ECAD-7EE8-4982-B7BA-2B4CB518BB7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64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010A3-1CB8-4895-BB1C-B1C0F4E82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B03C4F-428E-4D55-A446-7609EE0EB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15467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9694C-8AED-4225-B273-17A942D2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AAB956-7356-48A2-A9EA-4E46FA9CC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808BAD-3CED-47E3-9055-1C5A838AF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5F0F27D-B9D7-42ED-904E-62DFADCAF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90780" y="6356350"/>
            <a:ext cx="2610440" cy="392387"/>
          </a:xfrm>
          <a:prstGeom prst="rect">
            <a:avLst/>
          </a:prstGeom>
        </p:spPr>
        <p:txBody>
          <a:bodyPr anchor="ctr"/>
          <a:lstStyle>
            <a:lvl1pPr algn="ctr">
              <a:defRPr sz="105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985ECAD-7EE8-4982-B7BA-2B4CB518BB7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55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EBFD5-EA49-4A4E-BF70-3D2645AE9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C5F921-6453-4718-BEC5-FFC06410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843F88-1E8E-485E-9296-6FAB601DA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26D218-2791-443E-80BF-EBA309B91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22F429-D0B0-4BFB-9997-CFB8C98B3A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36461480-F2B2-42EC-8696-DB89A0C0E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90780" y="6356350"/>
            <a:ext cx="2610440" cy="392387"/>
          </a:xfrm>
          <a:prstGeom prst="rect">
            <a:avLst/>
          </a:prstGeom>
        </p:spPr>
        <p:txBody>
          <a:bodyPr anchor="ctr"/>
          <a:lstStyle>
            <a:lvl1pPr algn="ctr">
              <a:defRPr sz="105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985ECAD-7EE8-4982-B7BA-2B4CB518BB7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51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59324C-DF54-4E08-8384-964A5D67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B8ECE682-D43D-4CF2-A72E-0448BDAB0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90780" y="6356350"/>
            <a:ext cx="2610440" cy="392387"/>
          </a:xfrm>
          <a:prstGeom prst="rect">
            <a:avLst/>
          </a:prstGeom>
        </p:spPr>
        <p:txBody>
          <a:bodyPr anchor="ctr"/>
          <a:lstStyle>
            <a:lvl1pPr algn="ctr">
              <a:defRPr sz="105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985ECAD-7EE8-4982-B7BA-2B4CB518BB7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40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0C44B3-D36A-4D3A-9303-04B1F264C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90780" y="6356350"/>
            <a:ext cx="2610440" cy="392387"/>
          </a:xfrm>
          <a:prstGeom prst="rect">
            <a:avLst/>
          </a:prstGeom>
        </p:spPr>
        <p:txBody>
          <a:bodyPr anchor="ctr"/>
          <a:lstStyle>
            <a:lvl1pPr algn="ctr">
              <a:defRPr sz="105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985ECAD-7EE8-4982-B7BA-2B4CB518BB7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65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596F8-E35D-4856-B48B-55536B024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CB832C-F473-41C5-A39A-7E45F61C4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0FD6C1-584C-4136-825D-DFF551EBB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21537B74-8905-48FD-9394-9D9CE1044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90780" y="6356350"/>
            <a:ext cx="2610440" cy="392387"/>
          </a:xfrm>
          <a:prstGeom prst="rect">
            <a:avLst/>
          </a:prstGeom>
        </p:spPr>
        <p:txBody>
          <a:bodyPr anchor="ctr"/>
          <a:lstStyle>
            <a:lvl1pPr algn="ctr">
              <a:defRPr sz="105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985ECAD-7EE8-4982-B7BA-2B4CB518BB7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44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C9A051-3C1C-4772-9CD4-EBCF2D8C7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B63A7F-610B-49A2-852F-F2D0952F3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B3893B-F4AC-4964-B414-DCF026235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8E948615-AFB2-4A81-A521-684750CE4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13255" y="6375230"/>
            <a:ext cx="2610440" cy="392387"/>
          </a:xfrm>
          <a:prstGeom prst="rect">
            <a:avLst/>
          </a:prstGeom>
        </p:spPr>
        <p:txBody>
          <a:bodyPr anchor="ctr"/>
          <a:lstStyle>
            <a:lvl1pPr algn="ctr">
              <a:defRPr sz="105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985ECAD-7EE8-4982-B7BA-2B4CB518BB7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17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7C654-2007-40A1-A29B-0704A350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8D65F6-4519-4D92-A74F-FC0B4791C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030B7B13-CA12-4323-A6DC-98DB268A6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90780" y="6356350"/>
            <a:ext cx="2610440" cy="392387"/>
          </a:xfrm>
          <a:prstGeom prst="rect">
            <a:avLst/>
          </a:prstGeom>
        </p:spPr>
        <p:txBody>
          <a:bodyPr anchor="ctr"/>
          <a:lstStyle>
            <a:lvl1pPr algn="ctr">
              <a:defRPr sz="105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985ECAD-7EE8-4982-B7BA-2B4CB518BB7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878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17E8A7-DC18-4B34-B68B-19CC18B5BE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EBB38E-C9B6-4ECF-BD1D-10EF70F95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BDC718-E61A-4966-93A8-441E5AB3C4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6181" y="634018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EB154-FD18-4237-B3B1-B2C58242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2687" y="638361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BF622-2935-4C5A-9790-994E17EFC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5379" y="6383612"/>
            <a:ext cx="2818615" cy="365125"/>
          </a:xfrm>
          <a:prstGeom prst="rect">
            <a:avLst/>
          </a:prstGeom>
        </p:spPr>
        <p:txBody>
          <a:bodyPr/>
          <a:lstStyle/>
          <a:p>
            <a:fld id="{6985ECAD-7EE8-4982-B7BA-2B4CB518BB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339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7AA11A-B587-5049-9642-DDD29A6452D1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749AB3-2B65-2C41-BF27-A2847558BD5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1985"/>
            <a:ext cx="12192000" cy="506015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9178304" y="6435715"/>
            <a:ext cx="2670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Copyright © RoboSense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381000" y="6404937"/>
            <a:ext cx="230043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www.robosense.ai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0" y="0"/>
            <a:ext cx="922789" cy="92278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AF8EC99-4DCC-4796-9D27-88281093B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125" y="83732"/>
            <a:ext cx="10515600" cy="839058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106100C-BB33-4C1F-B6D1-A543CE875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53330"/>
            <a:ext cx="11368724" cy="4845811"/>
          </a:xfrm>
        </p:spPr>
        <p:txBody>
          <a:bodyPr>
            <a:normAutofit/>
          </a:bodyPr>
          <a:lstStyle>
            <a:lvl1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08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461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512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561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066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9269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2832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749AB3-2B65-2C41-BF27-A2847558BD5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1985"/>
            <a:ext cx="12192000" cy="506015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9178304" y="6435715"/>
            <a:ext cx="2670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Copyright © RoboSense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381000" y="6404937"/>
            <a:ext cx="230043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www.robosense.ai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0" y="0"/>
            <a:ext cx="922789" cy="92278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AF8EC99-4DCC-4796-9D27-88281093B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125" y="83732"/>
            <a:ext cx="10515600" cy="839058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106100C-BB33-4C1F-B6D1-A543CE875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53330"/>
            <a:ext cx="11368724" cy="4845811"/>
          </a:xfrm>
        </p:spPr>
        <p:txBody>
          <a:bodyPr>
            <a:normAutofit/>
          </a:bodyPr>
          <a:lstStyle>
            <a:lvl1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0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658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972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9247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BF00F-6FEC-44CB-8BF5-0535BE2A5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2817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86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A439E90-131E-4680-98B7-24E7BE6D9E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59" y="0"/>
            <a:ext cx="748983" cy="748983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4637896" y="5399461"/>
            <a:ext cx="2924437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800" b="1" dirty="0">
                <a:solidFill>
                  <a:schemeClr val="bg1"/>
                </a:solidFill>
                <a:latin typeface="苹方 常规" panose="020B0300000000000000" pitchFamily="34" charset="-122"/>
                <a:ea typeface="苹方 常规" panose="020B0300000000000000" pitchFamily="34" charset="-122"/>
              </a:rPr>
              <a:t>www.robosense.ai</a:t>
            </a:r>
          </a:p>
        </p:txBody>
      </p:sp>
    </p:spTree>
    <p:extLst>
      <p:ext uri="{BB962C8B-B14F-4D97-AF65-F5344CB8AC3E}">
        <p14:creationId xmlns:p14="http://schemas.microsoft.com/office/powerpoint/2010/main" val="360184682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FA96ED9-CE50-483C-BB72-020738DA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394" y="109263"/>
            <a:ext cx="10368124" cy="638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BAD4E2-4A5C-47C4-8BFC-257544D81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035" y="1150070"/>
            <a:ext cx="11121483" cy="494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4A8A207-877D-45D0-8BBF-AA3F1E49FB4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59" y="-1249"/>
            <a:ext cx="748983" cy="74898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6F84090-478C-4A73-8448-384616C9A54D}"/>
              </a:ext>
            </a:extLst>
          </p:cNvPr>
          <p:cNvSpPr txBox="1"/>
          <p:nvPr userDrawn="1"/>
        </p:nvSpPr>
        <p:spPr>
          <a:xfrm>
            <a:off x="470059" y="6448313"/>
            <a:ext cx="1345240" cy="253916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050" b="0" dirty="0">
                <a:solidFill>
                  <a:srgbClr val="949A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www.robosense.ai</a:t>
            </a:r>
            <a:endParaRPr lang="zh-CN" altLang="en-US" sz="1050" b="0" dirty="0">
              <a:solidFill>
                <a:srgbClr val="949A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AAD217-AD26-42EE-827C-1B571A645553}"/>
              </a:ext>
            </a:extLst>
          </p:cNvPr>
          <p:cNvSpPr txBox="1"/>
          <p:nvPr userDrawn="1"/>
        </p:nvSpPr>
        <p:spPr>
          <a:xfrm>
            <a:off x="9950527" y="6448313"/>
            <a:ext cx="18197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50" b="0" dirty="0">
                <a:solidFill>
                  <a:srgbClr val="949A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Copyright © </a:t>
            </a:r>
            <a:r>
              <a:rPr lang="en-US" altLang="zh-CN" sz="1050" b="0" dirty="0" err="1">
                <a:solidFill>
                  <a:srgbClr val="949A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RoboSense</a:t>
            </a:r>
            <a:endParaRPr lang="zh-CN" altLang="en-US" sz="1050" b="0" dirty="0">
              <a:solidFill>
                <a:srgbClr val="949A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E8AEF344-C5B8-40A3-B68D-F65D7917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10293" y="6356350"/>
            <a:ext cx="1345240" cy="392387"/>
          </a:xfrm>
          <a:prstGeom prst="rect">
            <a:avLst/>
          </a:prstGeom>
        </p:spPr>
        <p:txBody>
          <a:bodyPr anchor="ctr"/>
          <a:lstStyle>
            <a:lvl1pPr algn="ctr">
              <a:defRPr sz="105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985ECAD-7EE8-4982-B7BA-2B4CB518BB7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47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BF00F-6FEC-44CB-8BF5-0535BE2A5F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02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DC4B7-9A26-44D2-A48C-F05ED40AA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4405" y="1966119"/>
            <a:ext cx="5791462" cy="1334030"/>
          </a:xfrm>
        </p:spPr>
        <p:txBody>
          <a:bodyPr/>
          <a:lstStyle/>
          <a:p>
            <a:r>
              <a:rPr lang="zh-CN" altLang="en-US"/>
              <a:t>转正述职报告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716EB3-7C22-44B8-B66A-6D35E94E9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9678" y="3069828"/>
            <a:ext cx="4260915" cy="9760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述职人：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  <a:p>
            <a:pPr>
              <a:lnSpc>
                <a:spcPct val="100000"/>
              </a:lnSpc>
            </a:pP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 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XXX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</a:t>
            </a:r>
            <a:endParaRPr lang="en-US" altLang="zh-CN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/>
              <a:t>2022</a:t>
            </a:r>
            <a:r>
              <a:rPr lang="zh-CN" altLang="en-US" sz="2000" b="1"/>
              <a:t>年</a:t>
            </a:r>
            <a:r>
              <a:rPr lang="en-US" altLang="zh-CN" sz="2000" b="1"/>
              <a:t>XX</a:t>
            </a:r>
            <a:r>
              <a:rPr lang="zh-CN" altLang="en-US" sz="2000" b="1"/>
              <a:t>月</a:t>
            </a:r>
            <a:r>
              <a:rPr lang="en-US" altLang="zh-CN" sz="2000" b="1"/>
              <a:t>XX</a:t>
            </a:r>
            <a:r>
              <a:rPr lang="zh-CN" altLang="en-US" sz="2000" b="1"/>
              <a:t>日</a:t>
            </a:r>
            <a:endParaRPr lang="en-US" altLang="zh-CN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1FA2FB25-E8C1-4156-8339-F3FD22BF59D9}"/>
              </a:ext>
            </a:extLst>
          </p:cNvPr>
          <p:cNvSpPr txBox="1">
            <a:spLocks/>
          </p:cNvSpPr>
          <p:nvPr/>
        </p:nvSpPr>
        <p:spPr>
          <a:xfrm>
            <a:off x="8748510" y="6358467"/>
            <a:ext cx="2884690" cy="420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endParaRPr lang="en-US" altLang="zh-CN" sz="1800" b="1"/>
          </a:p>
        </p:txBody>
      </p:sp>
    </p:spTree>
    <p:extLst>
      <p:ext uri="{BB962C8B-B14F-4D97-AF65-F5344CB8AC3E}">
        <p14:creationId xmlns:p14="http://schemas.microsoft.com/office/powerpoint/2010/main" val="1169273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86633" y="1869457"/>
            <a:ext cx="23759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</a:rPr>
              <a:t>第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</a:rPr>
              <a:t>一部分     个人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</a:rPr>
              <a:t>概况</a:t>
            </a:r>
          </a:p>
        </p:txBody>
      </p:sp>
      <p:sp>
        <p:nvSpPr>
          <p:cNvPr id="18" name="矩形 17"/>
          <p:cNvSpPr/>
          <p:nvPr/>
        </p:nvSpPr>
        <p:spPr>
          <a:xfrm>
            <a:off x="3086735" y="2659380"/>
            <a:ext cx="641985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第二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部分 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试用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期间工作成果总结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ingFang SC" charset="-122"/>
              <a:sym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096258" y="3336518"/>
            <a:ext cx="691601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>
                <a:srgbClr val="C00000"/>
              </a:buClr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+mn-ea"/>
              </a:rPr>
              <a:t>第三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+mn-ea"/>
              </a:rPr>
              <a:t>部分     价值观理解与践行总结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ingFang SC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 rot="10800000">
            <a:off x="640257" y="1751705"/>
            <a:ext cx="1200329" cy="392460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6600" b="1" dirty="0">
                <a:solidFill>
                  <a:schemeClr val="bg1">
                    <a:lumMod val="75000"/>
                  </a:schemeClr>
                </a:solidFill>
                <a:latin typeface="PingFang SC Semibold" charset="-122"/>
                <a:ea typeface="PingFang SC Semibold" charset="-122"/>
                <a:cs typeface="PingFang SC Semibold" charset="-122"/>
              </a:rPr>
              <a:t>Contents</a:t>
            </a:r>
            <a:endParaRPr kumimoji="1" lang="zh-CN" altLang="en-US" sz="6600" b="1" dirty="0">
              <a:solidFill>
                <a:schemeClr val="bg1">
                  <a:lumMod val="75000"/>
                </a:schemeClr>
              </a:solidFill>
              <a:latin typeface="PingFang SC Semibold" charset="-122"/>
              <a:ea typeface="PingFang SC Semibold" charset="-122"/>
              <a:cs typeface="PingFang SC Semibold" charset="-122"/>
            </a:endParaRPr>
          </a:p>
        </p:txBody>
      </p:sp>
      <p:cxnSp>
        <p:nvCxnSpPr>
          <p:cNvPr id="22" name="直线连接符 21"/>
          <p:cNvCxnSpPr/>
          <p:nvPr/>
        </p:nvCxnSpPr>
        <p:spPr>
          <a:xfrm>
            <a:off x="2004042" y="400920"/>
            <a:ext cx="40943" cy="5786651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2766060" y="2310765"/>
            <a:ext cx="622427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2766060" y="3130550"/>
            <a:ext cx="6195695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2766060" y="3914140"/>
            <a:ext cx="6266815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2758497" y="1928038"/>
            <a:ext cx="244699" cy="2511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7" name="矩形 26"/>
          <p:cNvSpPr/>
          <p:nvPr/>
        </p:nvSpPr>
        <p:spPr>
          <a:xfrm>
            <a:off x="2765659" y="2705006"/>
            <a:ext cx="244699" cy="2511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8" name="矩形 27"/>
          <p:cNvSpPr/>
          <p:nvPr/>
        </p:nvSpPr>
        <p:spPr>
          <a:xfrm>
            <a:off x="2758496" y="3461884"/>
            <a:ext cx="244699" cy="2511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cxnSp>
        <p:nvCxnSpPr>
          <p:cNvPr id="4" name="直线连接符 24"/>
          <p:cNvCxnSpPr/>
          <p:nvPr/>
        </p:nvCxnSpPr>
        <p:spPr>
          <a:xfrm>
            <a:off x="2808605" y="4765040"/>
            <a:ext cx="6266815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765659" y="4289861"/>
            <a:ext cx="244699" cy="2511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7" name="矩形 6"/>
          <p:cNvSpPr/>
          <p:nvPr/>
        </p:nvSpPr>
        <p:spPr>
          <a:xfrm>
            <a:off x="3096258" y="4155033"/>
            <a:ext cx="691601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>
                <a:srgbClr val="C00000"/>
              </a:buClr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+mn-ea"/>
              </a:rPr>
              <a:t>第四部分     未来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+mn-ea"/>
              </a:rPr>
              <a:t>个月工作计划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ingFang SC" charset="-122"/>
              <a:sym typeface="+mn-ea"/>
            </a:endParaRPr>
          </a:p>
        </p:txBody>
      </p:sp>
      <p:cxnSp>
        <p:nvCxnSpPr>
          <p:cNvPr id="20" name="直线连接符 24">
            <a:extLst>
              <a:ext uri="{FF2B5EF4-FFF2-40B4-BE49-F238E27FC236}">
                <a16:creationId xmlns:a16="http://schemas.microsoft.com/office/drawing/2014/main" id="{E01F9461-5199-C516-8DF6-9E7107920C45}"/>
              </a:ext>
            </a:extLst>
          </p:cNvPr>
          <p:cNvCxnSpPr/>
          <p:nvPr/>
        </p:nvCxnSpPr>
        <p:spPr>
          <a:xfrm>
            <a:off x="2766060" y="5676306"/>
            <a:ext cx="6266815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4C82E189-2E5C-B7CB-B6D5-A5D81F3868B2}"/>
              </a:ext>
            </a:extLst>
          </p:cNvPr>
          <p:cNvSpPr/>
          <p:nvPr/>
        </p:nvSpPr>
        <p:spPr>
          <a:xfrm>
            <a:off x="2765659" y="5201126"/>
            <a:ext cx="244699" cy="2511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693B78-E25C-019C-64CB-E2FA09B31CFE}"/>
              </a:ext>
            </a:extLst>
          </p:cNvPr>
          <p:cNvSpPr/>
          <p:nvPr/>
        </p:nvSpPr>
        <p:spPr>
          <a:xfrm>
            <a:off x="3053713" y="5066299"/>
            <a:ext cx="691601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>
                <a:srgbClr val="C00000"/>
              </a:buClr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+mn-ea"/>
              </a:rPr>
              <a:t> 第五部分    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+mn-ea"/>
              </a:rPr>
              <a:t>资源支持及建设性建议</a:t>
            </a:r>
          </a:p>
        </p:txBody>
      </p:sp>
      <p:sp>
        <p:nvSpPr>
          <p:cNvPr id="31" name="灯片编号占位符 5">
            <a:extLst>
              <a:ext uri="{FF2B5EF4-FFF2-40B4-BE49-F238E27FC236}">
                <a16:creationId xmlns:a16="http://schemas.microsoft.com/office/drawing/2014/main" id="{2A90298B-8ABD-3218-1370-6114A0DE7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10293" y="6356350"/>
            <a:ext cx="1345240" cy="392387"/>
          </a:xfrm>
          <a:prstGeom prst="rect">
            <a:avLst/>
          </a:prstGeom>
        </p:spPr>
        <p:txBody>
          <a:bodyPr anchor="ctr"/>
          <a:lstStyle>
            <a:lvl1pPr algn="ctr">
              <a:defRPr sz="105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985ECAD-7EE8-4982-B7BA-2B4CB518BB77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一、个人概况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C5E624-2EB5-4483-B626-C7D8B9F2B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10293" y="6356350"/>
            <a:ext cx="1345240" cy="392387"/>
          </a:xfrm>
          <a:prstGeom prst="rect">
            <a:avLst/>
          </a:prstGeom>
        </p:spPr>
        <p:txBody>
          <a:bodyPr anchor="ctr"/>
          <a:lstStyle>
            <a:lvl1pPr algn="ctr">
              <a:defRPr sz="105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985ECAD-7EE8-4982-B7BA-2B4CB518BB77}" type="slidenum">
              <a:rPr lang="zh-CN" altLang="en-US" smtClean="0"/>
              <a:pPr/>
              <a:t>3</a:t>
            </a:fld>
            <a:endParaRPr lang="zh-CN" altLang="en-US"/>
          </a:p>
        </p:txBody>
      </p:sp>
      <p:graphicFrame>
        <p:nvGraphicFramePr>
          <p:cNvPr id="12" name="内容占位符 4">
            <a:extLst>
              <a:ext uri="{FF2B5EF4-FFF2-40B4-BE49-F238E27FC236}">
                <a16:creationId xmlns:a16="http://schemas.microsoft.com/office/drawing/2014/main" id="{99E91AA9-0C64-E87D-E425-7DDEA3671CB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4855800"/>
              </p:ext>
            </p:extLst>
          </p:nvPr>
        </p:nvGraphicFramePr>
        <p:xfrm>
          <a:off x="741681" y="1031240"/>
          <a:ext cx="10900422" cy="5206998"/>
        </p:xfrm>
        <a:graphic>
          <a:graphicData uri="http://schemas.openxmlformats.org/drawingml/2006/table">
            <a:tbl>
              <a:tblPr/>
              <a:tblGrid>
                <a:gridCol w="1595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9140">
                  <a:extLst>
                    <a:ext uri="{9D8B030D-6E8A-4147-A177-3AD203B41FA5}">
                      <a16:colId xmlns:a16="http://schemas.microsoft.com/office/drawing/2014/main" val="2767015817"/>
                    </a:ext>
                  </a:extLst>
                </a:gridCol>
                <a:gridCol w="1617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8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       门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岗      位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入职时间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534134"/>
                  </a:ext>
                </a:extLst>
              </a:tr>
              <a:tr h="5768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毕业院校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      业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       历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461770"/>
                  </a:ext>
                </a:extLst>
              </a:tr>
              <a:tr h="5768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起止年月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（由近及远）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岗位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期间项目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成就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（负责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参与）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3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3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3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3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3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3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B7BFC0-1441-4D79-DC13-7CED07F0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二、</a:t>
            </a:r>
            <a:r>
              <a:rPr lang="zh-CN" altLang="en-US">
                <a:cs typeface="PingFang SC" charset="-122"/>
                <a:sym typeface="微软雅黑" panose="020B0503020204020204" pitchFamily="34" charset="-122"/>
              </a:rPr>
              <a:t>试用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期间工作总结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（可以另附页进行详细说明）</a:t>
            </a:r>
            <a:endParaRPr lang="zh-CN" altLang="en-US">
              <a:solidFill>
                <a:srgbClr val="FF0000"/>
              </a:solidFill>
            </a:endParaRP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68F3956F-0A99-32B1-968D-B5C12C74E8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435443"/>
              </p:ext>
            </p:extLst>
          </p:nvPr>
        </p:nvGraphicFramePr>
        <p:xfrm>
          <a:off x="680720" y="1137920"/>
          <a:ext cx="10961383" cy="4815838"/>
        </p:xfrm>
        <a:graphic>
          <a:graphicData uri="http://schemas.openxmlformats.org/drawingml/2006/table">
            <a:tbl>
              <a:tblPr/>
              <a:tblGrid>
                <a:gridCol w="2407920">
                  <a:extLst>
                    <a:ext uri="{9D8B030D-6E8A-4147-A177-3AD203B41FA5}">
                      <a16:colId xmlns:a16="http://schemas.microsoft.com/office/drawing/2014/main" val="3135924306"/>
                    </a:ext>
                  </a:extLst>
                </a:gridCol>
                <a:gridCol w="8553463">
                  <a:extLst>
                    <a:ext uri="{9D8B030D-6E8A-4147-A177-3AD203B41FA5}">
                      <a16:colId xmlns:a16="http://schemas.microsoft.com/office/drawing/2014/main" val="400493601"/>
                    </a:ext>
                  </a:extLst>
                </a:gridCol>
              </a:tblGrid>
              <a:tr h="3704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目标（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达成的关键结果（</a:t>
                      </a: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</a:t>
                      </a: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370953"/>
                  </a:ext>
                </a:extLst>
              </a:tr>
              <a:tr h="493932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O1：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KR1：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157713"/>
                  </a:ext>
                </a:extLst>
              </a:tr>
              <a:tr h="4939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KR2：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590228"/>
                  </a:ext>
                </a:extLst>
              </a:tr>
              <a:tr h="4939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KR3：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224479"/>
                  </a:ext>
                </a:extLst>
              </a:tr>
              <a:tr h="493932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O2：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KR1：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149104"/>
                  </a:ext>
                </a:extLst>
              </a:tr>
              <a:tr h="4939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KR2：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343731"/>
                  </a:ext>
                </a:extLst>
              </a:tr>
              <a:tr h="4939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KR3：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639971"/>
                  </a:ext>
                </a:extLst>
              </a:tr>
              <a:tr h="493932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O3：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KR1：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362062"/>
                  </a:ext>
                </a:extLst>
              </a:tr>
              <a:tr h="4939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KR2：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083962"/>
                  </a:ext>
                </a:extLst>
              </a:tr>
              <a:tr h="4939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KR3：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08376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67CAEE-39B8-FFD4-5F2B-0B5EE1533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85ECAD-7EE8-4982-B7BA-2B4CB518BB77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755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4CFAA-E20D-0EFC-F643-05ED7A1A6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三、价值观理解与践行总结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7001A85A-84D1-82EE-EF23-41F1D5A89E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034150"/>
              </p:ext>
            </p:extLst>
          </p:nvPr>
        </p:nvGraphicFramePr>
        <p:xfrm>
          <a:off x="513079" y="811596"/>
          <a:ext cx="11165842" cy="5391542"/>
        </p:xfrm>
        <a:graphic>
          <a:graphicData uri="http://schemas.openxmlformats.org/drawingml/2006/table">
            <a:tbl>
              <a:tblPr/>
              <a:tblGrid>
                <a:gridCol w="624841">
                  <a:extLst>
                    <a:ext uri="{9D8B030D-6E8A-4147-A177-3AD203B41FA5}">
                      <a16:colId xmlns:a16="http://schemas.microsoft.com/office/drawing/2014/main" val="4192077998"/>
                    </a:ext>
                  </a:extLst>
                </a:gridCol>
                <a:gridCol w="2908162">
                  <a:extLst>
                    <a:ext uri="{9D8B030D-6E8A-4147-A177-3AD203B41FA5}">
                      <a16:colId xmlns:a16="http://schemas.microsoft.com/office/drawing/2014/main" val="3375706160"/>
                    </a:ext>
                  </a:extLst>
                </a:gridCol>
                <a:gridCol w="6423637">
                  <a:extLst>
                    <a:ext uri="{9D8B030D-6E8A-4147-A177-3AD203B41FA5}">
                      <a16:colId xmlns:a16="http://schemas.microsoft.com/office/drawing/2014/main" val="1978928166"/>
                    </a:ext>
                  </a:extLst>
                </a:gridCol>
                <a:gridCol w="1209202">
                  <a:extLst>
                    <a:ext uri="{9D8B030D-6E8A-4147-A177-3AD203B41FA5}">
                      <a16:colId xmlns:a16="http://schemas.microsoft.com/office/drawing/2014/main" val="2495014068"/>
                    </a:ext>
                  </a:extLst>
                </a:gridCol>
              </a:tblGrid>
              <a:tr h="5171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价值观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价值观标准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理解与践行总结</a:t>
                      </a:r>
                      <a:endParaRPr lang="en-US" altLang="zh-CN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（请列举践行价值观的案例）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自评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389935"/>
                  </a:ext>
                </a:extLst>
              </a:tr>
              <a:tr h="1058002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创新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创新是我们尊严的开始。创新意味着以开放的心态，长期坚持探索新技术、新方法、新思路，接纳挫折，持续推出超越客户期望的产品和服务，引领行业的发展趋势。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010700"/>
                  </a:ext>
                </a:extLst>
              </a:tr>
              <a:tr h="96244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极致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极致是我们工作的标准。极致要求我们持续追求更高标准，不断突破自身上限，不畏困难，竭尽所能，把每一项工作做到最好。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10876"/>
                  </a:ext>
                </a:extLst>
              </a:tr>
              <a:tr h="99594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纯粹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纯粹是我们共处的准则。专注于把事情做好，推崇简单的人际关系，不拉帮结派，不搞小圈子；坦诚相待，不欺上瞒下；直接沟通，不唯上，不拐弯抹角。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474311"/>
                  </a:ext>
                </a:extLst>
              </a:tr>
              <a:tr h="92115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务实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务实是我们工作的作风。在思考和解决问题时，要从工作实效出发，切合实际，实事求是，反对教条主义和形式主义。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405505"/>
                  </a:ext>
                </a:extLst>
              </a:tr>
              <a:tr h="92115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、价值观评价分为三级：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（优秀，可以举出正面案例，并得到证实），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（符合，不需要列举案例），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（不符合，能举出违反价值观底线的案例，并得到证实）</a:t>
                      </a:r>
                    </a:p>
                    <a:p>
                      <a:pPr algn="l" rtl="0" fontAlgn="ctr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、评价方法：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按照上述价值观逐条进行评价，至少两个维度有正面案例，则价值观总体评价结果为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；若发生违反价值观底线的案例，如拉帮结派、欺上瞒下等品德作风问题，经公司核实，则价值观总体评价为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；其他情况则为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>
                        <a:lnSpc>
                          <a:spcPct val="150000"/>
                        </a:lnSpc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05" marR="5805" marT="580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354621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A468FB-CD77-0257-BD0D-A57266FE2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85ECAD-7EE8-4982-B7BA-2B4CB518BB77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59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B7BFC0-1441-4D79-DC13-7CED07F0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四、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未来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3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个月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工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微软雅黑" panose="020B0503020204020204" pitchFamily="34" charset="-122"/>
              </a:rPr>
              <a:t>作计划</a:t>
            </a:r>
            <a:endParaRPr lang="zh-CN" altLang="en-US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68F3956F-0A99-32B1-968D-B5C12C74E8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0696240"/>
              </p:ext>
            </p:extLst>
          </p:nvPr>
        </p:nvGraphicFramePr>
        <p:xfrm>
          <a:off x="680720" y="995680"/>
          <a:ext cx="10961383" cy="4958078"/>
        </p:xfrm>
        <a:graphic>
          <a:graphicData uri="http://schemas.openxmlformats.org/drawingml/2006/table">
            <a:tbl>
              <a:tblPr/>
              <a:tblGrid>
                <a:gridCol w="2407920">
                  <a:extLst>
                    <a:ext uri="{9D8B030D-6E8A-4147-A177-3AD203B41FA5}">
                      <a16:colId xmlns:a16="http://schemas.microsoft.com/office/drawing/2014/main" val="3135924306"/>
                    </a:ext>
                  </a:extLst>
                </a:gridCol>
                <a:gridCol w="8553463">
                  <a:extLst>
                    <a:ext uri="{9D8B030D-6E8A-4147-A177-3AD203B41FA5}">
                      <a16:colId xmlns:a16="http://schemas.microsoft.com/office/drawing/2014/main" val="400493601"/>
                    </a:ext>
                  </a:extLst>
                </a:gridCol>
              </a:tblGrid>
              <a:tr h="5126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目标（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预期的关键结果（</a:t>
                      </a: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</a:t>
                      </a: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370953"/>
                  </a:ext>
                </a:extLst>
              </a:tr>
              <a:tr h="493932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O1：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KR1：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157713"/>
                  </a:ext>
                </a:extLst>
              </a:tr>
              <a:tr h="4939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KR2：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590228"/>
                  </a:ext>
                </a:extLst>
              </a:tr>
              <a:tr h="4939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KR3：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224479"/>
                  </a:ext>
                </a:extLst>
              </a:tr>
              <a:tr h="493932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O2：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KR1：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149104"/>
                  </a:ext>
                </a:extLst>
              </a:tr>
              <a:tr h="4939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KR2：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343731"/>
                  </a:ext>
                </a:extLst>
              </a:tr>
              <a:tr h="4939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KR3：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639971"/>
                  </a:ext>
                </a:extLst>
              </a:tr>
              <a:tr h="493932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O3：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KR1：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362062"/>
                  </a:ext>
                </a:extLst>
              </a:tr>
              <a:tr h="4939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KR2：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083962"/>
                  </a:ext>
                </a:extLst>
              </a:tr>
              <a:tr h="4939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KR3：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08376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67CAEE-39B8-FFD4-5F2B-0B5EE1533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85ECAD-7EE8-4982-B7BA-2B4CB518BB77}" type="slidenum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958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+mn-ea"/>
              </a:rPr>
              <a:t>五、需要的资源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charset="-122"/>
                <a:sym typeface="+mn-ea"/>
              </a:rPr>
              <a:t>支持及建设性建议</a:t>
            </a:r>
            <a:endParaRPr lang="zh-CN" altLang="en-US" b="1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E58B166F-E0A7-8389-C8E0-B6AAABDAC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90780" y="6356350"/>
            <a:ext cx="2610440" cy="392387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85ECAD-7EE8-4982-B7BA-2B4CB518BB77}" type="slidenum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6" name="内容占位符 4">
            <a:extLst>
              <a:ext uri="{FF2B5EF4-FFF2-40B4-BE49-F238E27FC236}">
                <a16:creationId xmlns:a16="http://schemas.microsoft.com/office/drawing/2014/main" id="{F8DD6D00-A106-90C6-D4B7-DCD2F6BED7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8828280"/>
              </p:ext>
            </p:extLst>
          </p:nvPr>
        </p:nvGraphicFramePr>
        <p:xfrm>
          <a:off x="462280" y="1145723"/>
          <a:ext cx="11267440" cy="4566554"/>
        </p:xfrm>
        <a:graphic>
          <a:graphicData uri="http://schemas.openxmlformats.org/drawingml/2006/table">
            <a:tbl>
              <a:tblPr/>
              <a:tblGrid>
                <a:gridCol w="2475152">
                  <a:extLst>
                    <a:ext uri="{9D8B030D-6E8A-4147-A177-3AD203B41FA5}">
                      <a16:colId xmlns:a16="http://schemas.microsoft.com/office/drawing/2014/main" val="3135924306"/>
                    </a:ext>
                  </a:extLst>
                </a:gridCol>
                <a:gridCol w="8792288">
                  <a:extLst>
                    <a:ext uri="{9D8B030D-6E8A-4147-A177-3AD203B41FA5}">
                      <a16:colId xmlns:a16="http://schemas.microsoft.com/office/drawing/2014/main" val="400493601"/>
                    </a:ext>
                  </a:extLst>
                </a:gridCol>
              </a:tblGrid>
              <a:tr h="71846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370953"/>
                  </a:ext>
                </a:extLst>
              </a:tr>
              <a:tr h="1924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需要的资源支持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157713"/>
                  </a:ext>
                </a:extLst>
              </a:tr>
              <a:tr h="1924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对公司及部门建设性建议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1491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27787" y="2772123"/>
            <a:ext cx="1068977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苹方 粗体" panose="020B0600000000000000" pitchFamily="34" charset="-122"/>
                <a:sym typeface="+mn-ea"/>
              </a:rPr>
              <a:t>深圳市速腾聚创科技有限公司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苹方 粗体" panose="020B0600000000000000" pitchFamily="34" charset="-122"/>
              <a:sym typeface="+mn-ea"/>
            </a:endParaRPr>
          </a:p>
          <a:p>
            <a:pPr marL="0" marR="0" lvl="0" indent="0" algn="ctr" defTabSz="412750" rtl="0" eaLnBrk="1" fontAlgn="auto" latinLnBrk="0" hangingPunct="0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苹方 粗体" panose="020B0600000000000000" pitchFamily="34" charset="-122"/>
                <a:sym typeface="+mn-ea"/>
              </a:rPr>
              <a:t>service@robosense.cn / 0755-86325830 / </a:t>
            </a:r>
          </a:p>
          <a:p>
            <a:pPr marL="0" marR="0" lvl="0" indent="0" algn="ctr" defTabSz="412750" rtl="0" eaLnBrk="1" fontAlgn="auto" latinLnBrk="0" hangingPunct="0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苹方 粗体" panose="020B0600000000000000" pitchFamily="34" charset="-122"/>
                <a:sym typeface="+mn-ea"/>
              </a:rPr>
              <a:t>深圳市南山区桃源街道留仙大道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苹方 粗体" panose="020B0600000000000000" pitchFamily="34" charset="-122"/>
                <a:sym typeface="+mn-ea"/>
              </a:rPr>
              <a:t>1213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苹方 粗体" panose="020B0600000000000000" pitchFamily="34" charset="-122"/>
                <a:sym typeface="+mn-ea"/>
              </a:rPr>
              <a:t>号众冠红花岭工业南区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苹方 粗体" panose="020B0600000000000000" pitchFamily="34" charset="-122"/>
                <a:sym typeface="+mn-ea"/>
              </a:rPr>
              <a:t>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苹方 粗体" panose="020B0600000000000000" pitchFamily="34" charset="-122"/>
                <a:sym typeface="+mn-ea"/>
              </a:rPr>
              <a:t>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苹方 粗体" panose="020B0600000000000000" pitchFamily="34" charset="-122"/>
                <a:sym typeface="+mn-ea"/>
              </a:rPr>
              <a:t>9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苹方 粗体" panose="020B0600000000000000" pitchFamily="34" charset="-122"/>
                <a:sym typeface="+mn-ea"/>
              </a:rPr>
              <a:t>栋速腾科技总部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苹方 粗体" panose="020B0600000000000000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5173227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84f14930-2a49-49b0-86c4-055a834af041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543</Words>
  <Application>Microsoft Office PowerPoint</Application>
  <PresentationFormat>宽屏</PresentationFormat>
  <Paragraphs>93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PingFang SC Semibold</vt:lpstr>
      <vt:lpstr>等线</vt:lpstr>
      <vt:lpstr>苹方 常规</vt:lpstr>
      <vt:lpstr>微软雅黑</vt:lpstr>
      <vt:lpstr>Arial</vt:lpstr>
      <vt:lpstr>Calibri</vt:lpstr>
      <vt:lpstr>Calibri Light</vt:lpstr>
      <vt:lpstr>Office 主题​​</vt:lpstr>
      <vt:lpstr>Office Theme</vt:lpstr>
      <vt:lpstr>转正述职报告</vt:lpstr>
      <vt:lpstr>PowerPoint 演示文稿</vt:lpstr>
      <vt:lpstr>一、个人概况</vt:lpstr>
      <vt:lpstr>二、试用期间工作总结（可以另附页进行详细说明）</vt:lpstr>
      <vt:lpstr>三、价值观理解与践行总结</vt:lpstr>
      <vt:lpstr>四、未来3个月工作计划</vt:lpstr>
      <vt:lpstr>五、需要的资源支持及建设性建议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课程名称</dc:title>
  <dc:creator>CHEN SIHAI</dc:creator>
  <cp:lastModifiedBy>CHEN SIHAI</cp:lastModifiedBy>
  <cp:revision>15</cp:revision>
  <dcterms:created xsi:type="dcterms:W3CDTF">2022-03-03T07:56:08Z</dcterms:created>
  <dcterms:modified xsi:type="dcterms:W3CDTF">2022-05-24T09:35:32Z</dcterms:modified>
</cp:coreProperties>
</file>